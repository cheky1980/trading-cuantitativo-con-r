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Inter Bold" charset="1" panose="02000503000000020004"/>
      <p:regular r:id="rId17"/>
    </p:embeddedFont>
    <p:embeddedFont>
      <p:font typeface="Inter" charset="1" panose="020005030000000200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jpe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 Id="rId8" Target="../media/image17.png" Type="http://schemas.openxmlformats.org/officeDocument/2006/relationships/image"/><Relationship Id="rId9" Target="../media/image1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2.png" Type="http://schemas.openxmlformats.org/officeDocument/2006/relationships/image"/><Relationship Id="rId7" Target="../media/image2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0" y="1028700"/>
            <a:ext cx="8115300" cy="8229600"/>
            <a:chOff x="0" y="0"/>
            <a:chExt cx="1257272" cy="1274980"/>
          </a:xfrm>
        </p:grpSpPr>
        <p:sp>
          <p:nvSpPr>
            <p:cNvPr name="Freeform 3" id="3"/>
            <p:cNvSpPr/>
            <p:nvPr/>
          </p:nvSpPr>
          <p:spPr>
            <a:xfrm flipH="false" flipV="false" rot="0">
              <a:off x="0" y="0"/>
              <a:ext cx="1257272" cy="1274980"/>
            </a:xfrm>
            <a:custGeom>
              <a:avLst/>
              <a:gdLst/>
              <a:ahLst/>
              <a:cxnLst/>
              <a:rect r="r" b="b" t="t" l="l"/>
              <a:pathLst>
                <a:path h="1274980" w="1257272">
                  <a:moveTo>
                    <a:pt x="38160" y="0"/>
                  </a:moveTo>
                  <a:lnTo>
                    <a:pt x="1219113" y="0"/>
                  </a:lnTo>
                  <a:cubicBezTo>
                    <a:pt x="1240188" y="0"/>
                    <a:pt x="1257272" y="17085"/>
                    <a:pt x="1257272" y="38160"/>
                  </a:cubicBezTo>
                  <a:lnTo>
                    <a:pt x="1257272" y="1236821"/>
                  </a:lnTo>
                  <a:cubicBezTo>
                    <a:pt x="1257272" y="1257896"/>
                    <a:pt x="1240188" y="1274980"/>
                    <a:pt x="1219113" y="1274980"/>
                  </a:cubicBezTo>
                  <a:lnTo>
                    <a:pt x="38160" y="1274980"/>
                  </a:lnTo>
                  <a:cubicBezTo>
                    <a:pt x="17085" y="1274980"/>
                    <a:pt x="0" y="1257896"/>
                    <a:pt x="0" y="1236821"/>
                  </a:cubicBezTo>
                  <a:lnTo>
                    <a:pt x="0" y="38160"/>
                  </a:lnTo>
                  <a:cubicBezTo>
                    <a:pt x="0" y="17085"/>
                    <a:pt x="17085" y="0"/>
                    <a:pt x="38160" y="0"/>
                  </a:cubicBezTo>
                  <a:close/>
                </a:path>
              </a:pathLst>
            </a:custGeom>
            <a:blipFill>
              <a:blip r:embed="rId2"/>
              <a:stretch>
                <a:fillRect l="-25987" t="0" r="-25987" b="0"/>
              </a:stretch>
            </a:blipFill>
          </p:spPr>
        </p:sp>
      </p:grpSp>
      <p:sp>
        <p:nvSpPr>
          <p:cNvPr name="Freeform 4" id="4"/>
          <p:cNvSpPr/>
          <p:nvPr/>
        </p:nvSpPr>
        <p:spPr>
          <a:xfrm flipH="false" flipV="false" rot="0">
            <a:off x="5984060" y="3146888"/>
            <a:ext cx="1116395" cy="1116395"/>
          </a:xfrm>
          <a:custGeom>
            <a:avLst/>
            <a:gdLst/>
            <a:ahLst/>
            <a:cxnLst/>
            <a:rect r="r" b="b" t="t" l="l"/>
            <a:pathLst>
              <a:path h="1116395" w="1116395">
                <a:moveTo>
                  <a:pt x="0" y="0"/>
                </a:moveTo>
                <a:lnTo>
                  <a:pt x="1116396" y="0"/>
                </a:lnTo>
                <a:lnTo>
                  <a:pt x="1116396" y="1116395"/>
                </a:lnTo>
                <a:lnTo>
                  <a:pt x="0" y="111639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409265" y="2984963"/>
            <a:ext cx="6089302" cy="1467477"/>
          </a:xfrm>
          <a:prstGeom prst="rect">
            <a:avLst/>
          </a:prstGeom>
        </p:spPr>
        <p:txBody>
          <a:bodyPr anchor="t" rtlCol="false" tIns="0" lIns="0" bIns="0" rIns="0">
            <a:spAutoFit/>
          </a:bodyPr>
          <a:lstStyle/>
          <a:p>
            <a:pPr algn="l">
              <a:lnSpc>
                <a:spcPts val="12040"/>
              </a:lnSpc>
            </a:pPr>
            <a:r>
              <a:rPr lang="en-US" sz="8600" b="true">
                <a:solidFill>
                  <a:srgbClr val="1F4FD8"/>
                </a:solidFill>
                <a:latin typeface="Inter Bold"/>
                <a:ea typeface="Inter Bold"/>
                <a:cs typeface="Inter Bold"/>
                <a:sym typeface="Inter Bold"/>
              </a:rPr>
              <a:t>TRADING </a:t>
            </a:r>
          </a:p>
        </p:txBody>
      </p:sp>
      <p:sp>
        <p:nvSpPr>
          <p:cNvPr name="TextBox 6" id="6"/>
          <p:cNvSpPr txBox="true"/>
          <p:nvPr/>
        </p:nvSpPr>
        <p:spPr>
          <a:xfrm rot="0">
            <a:off x="409265" y="4348497"/>
            <a:ext cx="7151192" cy="795003"/>
          </a:xfrm>
          <a:prstGeom prst="rect">
            <a:avLst/>
          </a:prstGeom>
        </p:spPr>
        <p:txBody>
          <a:bodyPr anchor="t" rtlCol="false" tIns="0" lIns="0" bIns="0" rIns="0">
            <a:spAutoFit/>
          </a:bodyPr>
          <a:lstStyle/>
          <a:p>
            <a:pPr algn="l">
              <a:lnSpc>
                <a:spcPts val="6580"/>
              </a:lnSpc>
            </a:pPr>
            <a:r>
              <a:rPr lang="en-US" sz="4700" b="true">
                <a:solidFill>
                  <a:srgbClr val="3B82F6"/>
                </a:solidFill>
                <a:latin typeface="Inter Bold"/>
                <a:ea typeface="Inter Bold"/>
                <a:cs typeface="Inter Bold"/>
                <a:sym typeface="Inter Bold"/>
              </a:rPr>
              <a:t>CUA</a:t>
            </a:r>
            <a:r>
              <a:rPr lang="en-US" b="true" sz="4700">
                <a:solidFill>
                  <a:srgbClr val="3B82F6"/>
                </a:solidFill>
                <a:latin typeface="Inter Bold"/>
                <a:ea typeface="Inter Bold"/>
                <a:cs typeface="Inter Bold"/>
                <a:sym typeface="Inter Bold"/>
              </a:rPr>
              <a:t>NTITATIVO CON R</a:t>
            </a:r>
          </a:p>
        </p:txBody>
      </p:sp>
      <p:sp>
        <p:nvSpPr>
          <p:cNvPr name="TextBox 7" id="7"/>
          <p:cNvSpPr txBox="true"/>
          <p:nvPr/>
        </p:nvSpPr>
        <p:spPr>
          <a:xfrm rot="0">
            <a:off x="1028700" y="5862203"/>
            <a:ext cx="6531756" cy="1289050"/>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Inter"/>
                <a:ea typeface="Inter"/>
                <a:cs typeface="Inter"/>
                <a:sym typeface="Inter"/>
              </a:rPr>
              <a:t>Opt</a:t>
            </a:r>
            <a:r>
              <a:rPr lang="en-US" sz="2499">
                <a:solidFill>
                  <a:srgbClr val="000000"/>
                </a:solidFill>
                <a:latin typeface="Inter"/>
                <a:ea typeface="Inter"/>
                <a:cs typeface="Inter"/>
                <a:sym typeface="Inter"/>
              </a:rPr>
              <a:t>imización de Portafolios mediante el Modelo de Markowitz y Ratio de Sharpe</a:t>
            </a:r>
          </a:p>
          <a:p>
            <a:pPr algn="l">
              <a:lnSpc>
                <a:spcPts val="3499"/>
              </a:lnSpc>
              <a:spcBef>
                <a:spcPct val="0"/>
              </a:spcBef>
            </a:pPr>
          </a:p>
        </p:txBody>
      </p:sp>
      <p:sp>
        <p:nvSpPr>
          <p:cNvPr name="TextBox 8" id="8"/>
          <p:cNvSpPr txBox="true"/>
          <p:nvPr/>
        </p:nvSpPr>
        <p:spPr>
          <a:xfrm rot="0">
            <a:off x="1028700" y="8845484"/>
            <a:ext cx="6349090" cy="850900"/>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Inter"/>
                <a:ea typeface="Inter"/>
                <a:cs typeface="Inter"/>
                <a:sym typeface="Inter"/>
              </a:rPr>
              <a:t>A</a:t>
            </a:r>
            <a:r>
              <a:rPr lang="en-US" sz="2499">
                <a:solidFill>
                  <a:srgbClr val="000000"/>
                </a:solidFill>
                <a:latin typeface="Inter"/>
                <a:ea typeface="Inter"/>
                <a:cs typeface="Inter"/>
                <a:sym typeface="Inter"/>
              </a:rPr>
              <a:t>lumno: Sergio Franco, Alexis Gallardo</a:t>
            </a:r>
          </a:p>
          <a:p>
            <a:pPr algn="l">
              <a:lnSpc>
                <a:spcPts val="3499"/>
              </a:lnSpc>
              <a:spcBef>
                <a:spcPct val="0"/>
              </a:spcBef>
            </a:pPr>
          </a:p>
        </p:txBody>
      </p:sp>
      <p:sp>
        <p:nvSpPr>
          <p:cNvPr name="TextBox 9" id="9"/>
          <p:cNvSpPr txBox="true"/>
          <p:nvPr/>
        </p:nvSpPr>
        <p:spPr>
          <a:xfrm rot="0">
            <a:off x="1028700" y="7354501"/>
            <a:ext cx="5292885" cy="850900"/>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Inter"/>
                <a:ea typeface="Inter"/>
                <a:cs typeface="Inter"/>
                <a:sym typeface="Inter"/>
              </a:rPr>
              <a:t>Materia: M.de Sistema de IA</a:t>
            </a:r>
          </a:p>
          <a:p>
            <a:pPr algn="l">
              <a:lnSpc>
                <a:spcPts val="3499"/>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300094" y="470502"/>
            <a:ext cx="1116395" cy="1116395"/>
          </a:xfrm>
          <a:custGeom>
            <a:avLst/>
            <a:gdLst/>
            <a:ahLst/>
            <a:cxnLst/>
            <a:rect r="r" b="b" t="t" l="l"/>
            <a:pathLst>
              <a:path h="1116395" w="1116395">
                <a:moveTo>
                  <a:pt x="0" y="0"/>
                </a:moveTo>
                <a:lnTo>
                  <a:pt x="1116396" y="0"/>
                </a:lnTo>
                <a:lnTo>
                  <a:pt x="1116396" y="1116396"/>
                </a:lnTo>
                <a:lnTo>
                  <a:pt x="0" y="11163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115231" y="2549516"/>
            <a:ext cx="11301259" cy="6046174"/>
          </a:xfrm>
          <a:custGeom>
            <a:avLst/>
            <a:gdLst/>
            <a:ahLst/>
            <a:cxnLst/>
            <a:rect r="r" b="b" t="t" l="l"/>
            <a:pathLst>
              <a:path h="6046174" w="11301259">
                <a:moveTo>
                  <a:pt x="0" y="0"/>
                </a:moveTo>
                <a:lnTo>
                  <a:pt x="11301259" y="0"/>
                </a:lnTo>
                <a:lnTo>
                  <a:pt x="11301259" y="6046174"/>
                </a:lnTo>
                <a:lnTo>
                  <a:pt x="0" y="6046174"/>
                </a:lnTo>
                <a:lnTo>
                  <a:pt x="0" y="0"/>
                </a:lnTo>
                <a:close/>
              </a:path>
            </a:pathLst>
          </a:custGeom>
          <a:blipFill>
            <a:blip r:embed="rId4"/>
            <a:stretch>
              <a:fillRect l="0" t="0" r="0" b="0"/>
            </a:stretch>
          </a:blipFill>
        </p:spPr>
      </p:sp>
      <p:sp>
        <p:nvSpPr>
          <p:cNvPr name="TextBox 4" id="4"/>
          <p:cNvSpPr txBox="true"/>
          <p:nvPr/>
        </p:nvSpPr>
        <p:spPr>
          <a:xfrm rot="0">
            <a:off x="1028700" y="885825"/>
            <a:ext cx="14585591" cy="2946391"/>
          </a:xfrm>
          <a:prstGeom prst="rect">
            <a:avLst/>
          </a:prstGeom>
        </p:spPr>
        <p:txBody>
          <a:bodyPr anchor="t" rtlCol="false" tIns="0" lIns="0" bIns="0" rIns="0">
            <a:spAutoFit/>
          </a:bodyPr>
          <a:lstStyle/>
          <a:p>
            <a:pPr algn="l">
              <a:lnSpc>
                <a:spcPts val="10500"/>
              </a:lnSpc>
            </a:pPr>
            <a:r>
              <a:rPr lang="en-US" sz="7500" b="true">
                <a:solidFill>
                  <a:srgbClr val="1F4FD8"/>
                </a:solidFill>
                <a:latin typeface="Inter Bold"/>
                <a:ea typeface="Inter Bold"/>
                <a:cs typeface="Inter Bold"/>
                <a:sym typeface="Inter Bold"/>
              </a:rPr>
              <a:t>HERRAMIENTAS UTILIZADAS:</a:t>
            </a:r>
          </a:p>
          <a:p>
            <a:pPr algn="l">
              <a:lnSpc>
                <a:spcPts val="13300"/>
              </a:lnSpc>
            </a:pPr>
          </a:p>
        </p:txBody>
      </p:sp>
      <p:sp>
        <p:nvSpPr>
          <p:cNvPr name="TextBox 5" id="5"/>
          <p:cNvSpPr txBox="true"/>
          <p:nvPr/>
        </p:nvSpPr>
        <p:spPr>
          <a:xfrm rot="0">
            <a:off x="1227804" y="6208375"/>
            <a:ext cx="6531756" cy="2647950"/>
          </a:xfrm>
          <a:prstGeom prst="rect">
            <a:avLst/>
          </a:prstGeom>
        </p:spPr>
        <p:txBody>
          <a:bodyPr anchor="t" rtlCol="false" tIns="0" lIns="0" bIns="0" rIns="0">
            <a:spAutoFit/>
          </a:bodyPr>
          <a:lstStyle/>
          <a:p>
            <a:pPr algn="l">
              <a:lnSpc>
                <a:spcPts val="4200"/>
              </a:lnSpc>
              <a:spcBef>
                <a:spcPct val="0"/>
              </a:spcBef>
            </a:pPr>
            <a:r>
              <a:rPr lang="en-US" b="true" sz="3000">
                <a:solidFill>
                  <a:srgbClr val="000000"/>
                </a:solidFill>
                <a:latin typeface="Inter Bold"/>
                <a:ea typeface="Inter Bold"/>
                <a:cs typeface="Inter Bold"/>
                <a:sym typeface="Inter Bold"/>
              </a:rPr>
              <a:t>Acti</a:t>
            </a:r>
            <a:r>
              <a:rPr lang="en-US" b="true" sz="3000">
                <a:solidFill>
                  <a:srgbClr val="000000"/>
                </a:solidFill>
                <a:latin typeface="Inter Bold"/>
                <a:ea typeface="Inter Bold"/>
                <a:cs typeface="Inter Bold"/>
                <a:sym typeface="Inter Bold"/>
              </a:rPr>
              <a:t>vos analizados.</a:t>
            </a:r>
          </a:p>
          <a:p>
            <a:pPr algn="l">
              <a:lnSpc>
                <a:spcPts val="4200"/>
              </a:lnSpc>
              <a:spcBef>
                <a:spcPct val="0"/>
              </a:spcBef>
            </a:pPr>
            <a:r>
              <a:rPr lang="en-US" sz="3000">
                <a:solidFill>
                  <a:srgbClr val="000000"/>
                </a:solidFill>
                <a:latin typeface="Inter"/>
                <a:ea typeface="Inter"/>
                <a:cs typeface="Inter"/>
                <a:sym typeface="Inter"/>
              </a:rPr>
              <a:t>Apple – AAPL</a:t>
            </a:r>
          </a:p>
          <a:p>
            <a:pPr algn="l">
              <a:lnSpc>
                <a:spcPts val="4200"/>
              </a:lnSpc>
              <a:spcBef>
                <a:spcPct val="0"/>
              </a:spcBef>
            </a:pPr>
            <a:r>
              <a:rPr lang="en-US" sz="3000">
                <a:solidFill>
                  <a:srgbClr val="000000"/>
                </a:solidFill>
                <a:latin typeface="Inter"/>
                <a:ea typeface="Inter"/>
                <a:cs typeface="Inter"/>
                <a:sym typeface="Inter"/>
              </a:rPr>
              <a:t>NVIDA –  NVDA                                                                                               </a:t>
            </a:r>
          </a:p>
          <a:p>
            <a:pPr algn="l">
              <a:lnSpc>
                <a:spcPts val="4200"/>
              </a:lnSpc>
              <a:spcBef>
                <a:spcPct val="0"/>
              </a:spcBef>
            </a:pPr>
            <a:r>
              <a:rPr lang="en-US" sz="3000">
                <a:solidFill>
                  <a:srgbClr val="000000"/>
                </a:solidFill>
                <a:latin typeface="Inter"/>
                <a:ea typeface="Inter"/>
                <a:cs typeface="Inter"/>
                <a:sym typeface="Inter"/>
              </a:rPr>
              <a:t>Amazon - AMZN</a:t>
            </a:r>
          </a:p>
          <a:p>
            <a:pPr algn="l">
              <a:lnSpc>
                <a:spcPts val="4200"/>
              </a:lnSpc>
              <a:spcBef>
                <a:spcPct val="0"/>
              </a:spcBef>
            </a:pPr>
          </a:p>
        </p:txBody>
      </p:sp>
      <p:sp>
        <p:nvSpPr>
          <p:cNvPr name="TextBox 6" id="6"/>
          <p:cNvSpPr txBox="true"/>
          <p:nvPr/>
        </p:nvSpPr>
        <p:spPr>
          <a:xfrm rot="0">
            <a:off x="1227804" y="2511416"/>
            <a:ext cx="7241685" cy="2603500"/>
          </a:xfrm>
          <a:prstGeom prst="rect">
            <a:avLst/>
          </a:prstGeom>
        </p:spPr>
        <p:txBody>
          <a:bodyPr anchor="t" rtlCol="false" tIns="0" lIns="0" bIns="0" rIns="0">
            <a:spAutoFit/>
          </a:bodyPr>
          <a:lstStyle/>
          <a:p>
            <a:pPr algn="l" marL="539749" indent="-269875" lvl="1">
              <a:lnSpc>
                <a:spcPts val="3499"/>
              </a:lnSpc>
              <a:buFont typeface="Arial"/>
              <a:buChar char="•"/>
            </a:pPr>
            <a:r>
              <a:rPr lang="en-US" b="true" sz="2499">
                <a:solidFill>
                  <a:srgbClr val="000000"/>
                </a:solidFill>
                <a:latin typeface="Inter Bold"/>
                <a:ea typeface="Inter Bold"/>
                <a:cs typeface="Inter Bold"/>
                <a:sym typeface="Inter Bold"/>
              </a:rPr>
              <a:t>R Studio </a:t>
            </a:r>
          </a:p>
          <a:p>
            <a:pPr algn="l" marL="539749" indent="-269875" lvl="1">
              <a:lnSpc>
                <a:spcPts val="3499"/>
              </a:lnSpc>
              <a:spcBef>
                <a:spcPct val="0"/>
              </a:spcBef>
              <a:buFont typeface="Arial"/>
              <a:buChar char="•"/>
            </a:pPr>
            <a:r>
              <a:rPr lang="en-US" b="true" sz="2499">
                <a:solidFill>
                  <a:srgbClr val="000000"/>
                </a:solidFill>
                <a:latin typeface="Inter Bold"/>
                <a:ea typeface="Inter Bold"/>
                <a:cs typeface="Inter Bold"/>
                <a:sym typeface="Inter Bold"/>
              </a:rPr>
              <a:t>quantm</a:t>
            </a:r>
            <a:r>
              <a:rPr lang="en-US" b="true" sz="2499">
                <a:solidFill>
                  <a:srgbClr val="000000"/>
                </a:solidFill>
                <a:latin typeface="Inter Bold"/>
                <a:ea typeface="Inter Bold"/>
                <a:cs typeface="Inter Bold"/>
                <a:sym typeface="Inter Bold"/>
              </a:rPr>
              <a:t>od </a:t>
            </a:r>
          </a:p>
          <a:p>
            <a:pPr algn="l" marL="539749" indent="-269875" lvl="1">
              <a:lnSpc>
                <a:spcPts val="3499"/>
              </a:lnSpc>
              <a:spcBef>
                <a:spcPct val="0"/>
              </a:spcBef>
              <a:buFont typeface="Arial"/>
              <a:buChar char="•"/>
            </a:pPr>
            <a:r>
              <a:rPr lang="en-US" b="true" sz="2499">
                <a:solidFill>
                  <a:srgbClr val="000000"/>
                </a:solidFill>
                <a:latin typeface="Inter Bold"/>
                <a:ea typeface="Inter Bold"/>
                <a:cs typeface="Inter Bold"/>
                <a:sym typeface="Inter Bold"/>
              </a:rPr>
              <a:t>PerformanceAnalytics </a:t>
            </a:r>
          </a:p>
          <a:p>
            <a:pPr algn="l" marL="539749" indent="-269875" lvl="1">
              <a:lnSpc>
                <a:spcPts val="3499"/>
              </a:lnSpc>
              <a:spcBef>
                <a:spcPct val="0"/>
              </a:spcBef>
              <a:buFont typeface="Arial"/>
              <a:buChar char="•"/>
            </a:pPr>
            <a:r>
              <a:rPr lang="en-US" b="true" sz="2499">
                <a:solidFill>
                  <a:srgbClr val="000000"/>
                </a:solidFill>
                <a:latin typeface="Inter Bold"/>
                <a:ea typeface="Inter Bold"/>
                <a:cs typeface="Inter Bold"/>
                <a:sym typeface="Inter Bold"/>
              </a:rPr>
              <a:t>ggplot2 </a:t>
            </a:r>
          </a:p>
          <a:p>
            <a:pPr algn="l" marL="539749" indent="-269875" lvl="1">
              <a:lnSpc>
                <a:spcPts val="3499"/>
              </a:lnSpc>
              <a:spcBef>
                <a:spcPct val="0"/>
              </a:spcBef>
              <a:buFont typeface="Arial"/>
              <a:buChar char="•"/>
            </a:pPr>
            <a:r>
              <a:rPr lang="en-US" b="true" sz="2499">
                <a:solidFill>
                  <a:srgbClr val="000000"/>
                </a:solidFill>
                <a:latin typeface="Inter Bold"/>
                <a:ea typeface="Inter Bold"/>
                <a:cs typeface="Inter Bold"/>
                <a:sym typeface="Inter Bold"/>
              </a:rPr>
              <a:t>Yahoo Finance</a:t>
            </a:r>
            <a:r>
              <a:rPr lang="en-US" sz="2499">
                <a:solidFill>
                  <a:srgbClr val="000000"/>
                </a:solidFill>
                <a:latin typeface="Inter"/>
                <a:ea typeface="Inter"/>
                <a:cs typeface="Inter"/>
                <a:sym typeface="Inter"/>
              </a:rPr>
              <a:t> </a:t>
            </a:r>
          </a:p>
          <a:p>
            <a:pPr algn="l">
              <a:lnSpc>
                <a:spcPts val="3499"/>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53510" y="117611"/>
            <a:ext cx="9507693" cy="3282947"/>
          </a:xfrm>
          <a:prstGeom prst="rect">
            <a:avLst/>
          </a:prstGeom>
        </p:spPr>
        <p:txBody>
          <a:bodyPr anchor="t" rtlCol="false" tIns="0" lIns="0" bIns="0" rIns="0">
            <a:spAutoFit/>
          </a:bodyPr>
          <a:lstStyle/>
          <a:p>
            <a:pPr algn="l">
              <a:lnSpc>
                <a:spcPts val="12880"/>
              </a:lnSpc>
            </a:pPr>
            <a:r>
              <a:rPr lang="en-US" sz="9200" b="true">
                <a:solidFill>
                  <a:srgbClr val="1F4FD8"/>
                </a:solidFill>
                <a:latin typeface="Inter Bold"/>
                <a:ea typeface="Inter Bold"/>
                <a:cs typeface="Inter Bold"/>
                <a:sym typeface="Inter Bold"/>
              </a:rPr>
              <a:t>INTRODUCCIÓN</a:t>
            </a:r>
          </a:p>
          <a:p>
            <a:pPr algn="l">
              <a:lnSpc>
                <a:spcPts val="13720"/>
              </a:lnSpc>
            </a:pPr>
          </a:p>
        </p:txBody>
      </p:sp>
      <p:sp>
        <p:nvSpPr>
          <p:cNvPr name="Freeform 3" id="3"/>
          <p:cNvSpPr/>
          <p:nvPr/>
        </p:nvSpPr>
        <p:spPr>
          <a:xfrm flipH="false" flipV="false" rot="0">
            <a:off x="9685421" y="2133900"/>
            <a:ext cx="1116395" cy="1116395"/>
          </a:xfrm>
          <a:custGeom>
            <a:avLst/>
            <a:gdLst/>
            <a:ahLst/>
            <a:cxnLst/>
            <a:rect r="r" b="b" t="t" l="l"/>
            <a:pathLst>
              <a:path h="1116395" w="1116395">
                <a:moveTo>
                  <a:pt x="0" y="0"/>
                </a:moveTo>
                <a:lnTo>
                  <a:pt x="1116396" y="0"/>
                </a:lnTo>
                <a:lnTo>
                  <a:pt x="1116396" y="1116395"/>
                </a:lnTo>
                <a:lnTo>
                  <a:pt x="0" y="11163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680467" y="4636422"/>
            <a:ext cx="7607533" cy="5599173"/>
          </a:xfrm>
          <a:custGeom>
            <a:avLst/>
            <a:gdLst/>
            <a:ahLst/>
            <a:cxnLst/>
            <a:rect r="r" b="b" t="t" l="l"/>
            <a:pathLst>
              <a:path h="5599173" w="7607533">
                <a:moveTo>
                  <a:pt x="0" y="0"/>
                </a:moveTo>
                <a:lnTo>
                  <a:pt x="7607533" y="0"/>
                </a:lnTo>
                <a:lnTo>
                  <a:pt x="7607533" y="5599172"/>
                </a:lnTo>
                <a:lnTo>
                  <a:pt x="0" y="5599172"/>
                </a:lnTo>
                <a:lnTo>
                  <a:pt x="0" y="0"/>
                </a:lnTo>
                <a:close/>
              </a:path>
            </a:pathLst>
          </a:custGeom>
          <a:blipFill>
            <a:blip r:embed="rId4"/>
            <a:stretch>
              <a:fillRect l="-5442" t="0" r="-5442" b="0"/>
            </a:stretch>
          </a:blipFill>
        </p:spPr>
      </p:sp>
      <p:sp>
        <p:nvSpPr>
          <p:cNvPr name="TextBox 5" id="5"/>
          <p:cNvSpPr txBox="true"/>
          <p:nvPr/>
        </p:nvSpPr>
        <p:spPr>
          <a:xfrm rot="0">
            <a:off x="138603" y="1991025"/>
            <a:ext cx="9797086" cy="2645397"/>
          </a:xfrm>
          <a:prstGeom prst="rect">
            <a:avLst/>
          </a:prstGeom>
        </p:spPr>
        <p:txBody>
          <a:bodyPr anchor="t" rtlCol="false" tIns="0" lIns="0" bIns="0" rIns="0">
            <a:spAutoFit/>
          </a:bodyPr>
          <a:lstStyle/>
          <a:p>
            <a:pPr algn="l">
              <a:lnSpc>
                <a:spcPts val="9800"/>
              </a:lnSpc>
            </a:pPr>
            <a:r>
              <a:rPr lang="en-US" sz="7000" b="true">
                <a:solidFill>
                  <a:srgbClr val="3B82F6"/>
                </a:solidFill>
                <a:latin typeface="Inter Bold"/>
                <a:ea typeface="Inter Bold"/>
                <a:cs typeface="Inter Bold"/>
                <a:sym typeface="Inter Bold"/>
              </a:rPr>
              <a:t>¿QUÉ ES EL TR</a:t>
            </a:r>
            <a:r>
              <a:rPr lang="en-US" b="true" sz="7000">
                <a:solidFill>
                  <a:srgbClr val="3B82F6"/>
                </a:solidFill>
                <a:latin typeface="Inter Bold"/>
                <a:ea typeface="Inter Bold"/>
                <a:cs typeface="Inter Bold"/>
                <a:sym typeface="Inter Bold"/>
              </a:rPr>
              <a:t>ADING?</a:t>
            </a:r>
          </a:p>
          <a:p>
            <a:pPr algn="l">
              <a:lnSpc>
                <a:spcPts val="11480"/>
              </a:lnSpc>
            </a:pPr>
          </a:p>
        </p:txBody>
      </p:sp>
      <p:sp>
        <p:nvSpPr>
          <p:cNvPr name="TextBox 6" id="6"/>
          <p:cNvSpPr txBox="true"/>
          <p:nvPr/>
        </p:nvSpPr>
        <p:spPr>
          <a:xfrm rot="0">
            <a:off x="453510" y="4579272"/>
            <a:ext cx="9482179" cy="2573020"/>
          </a:xfrm>
          <a:prstGeom prst="rect">
            <a:avLst/>
          </a:prstGeom>
        </p:spPr>
        <p:txBody>
          <a:bodyPr anchor="t" rtlCol="false" tIns="0" lIns="0" bIns="0" rIns="0">
            <a:spAutoFit/>
          </a:bodyPr>
          <a:lstStyle/>
          <a:p>
            <a:pPr algn="l">
              <a:lnSpc>
                <a:spcPts val="4060"/>
              </a:lnSpc>
              <a:spcBef>
                <a:spcPct val="0"/>
              </a:spcBef>
            </a:pPr>
            <a:r>
              <a:rPr lang="en-US" b="true" sz="2900">
                <a:solidFill>
                  <a:srgbClr val="000000"/>
                </a:solidFill>
                <a:latin typeface="Inter Bold"/>
                <a:ea typeface="Inter Bold"/>
                <a:cs typeface="Inter Bold"/>
                <a:sym typeface="Inter Bold"/>
              </a:rPr>
              <a:t>El trading consiste en comprar y vender activos f</a:t>
            </a:r>
            <a:r>
              <a:rPr lang="en-US" b="true" sz="2900">
                <a:solidFill>
                  <a:srgbClr val="000000"/>
                </a:solidFill>
                <a:latin typeface="Inter Bold"/>
                <a:ea typeface="Inter Bold"/>
                <a:cs typeface="Inter Bold"/>
                <a:sym typeface="Inter Bold"/>
              </a:rPr>
              <a:t>inancieros buscando obtener ganancias a partir de los movimientos del mercado.</a:t>
            </a:r>
          </a:p>
          <a:p>
            <a:pPr algn="l">
              <a:lnSpc>
                <a:spcPts val="4060"/>
              </a:lnSpc>
              <a:spcBef>
                <a:spcPct val="0"/>
              </a:spcBef>
            </a:pPr>
            <a:r>
              <a:rPr lang="en-US" b="true" sz="2900">
                <a:solidFill>
                  <a:srgbClr val="000000"/>
                </a:solidFill>
                <a:latin typeface="Inter Bold"/>
                <a:ea typeface="Inter Bold"/>
                <a:cs typeface="Inter Bold"/>
                <a:sym typeface="Inter Bold"/>
              </a:rPr>
              <a:t>Las decisiones modernas de inversión se apoyan en:</a:t>
            </a:r>
          </a:p>
          <a:p>
            <a:pPr algn="l">
              <a:lnSpc>
                <a:spcPts val="4200"/>
              </a:lnSpc>
              <a:spcBef>
                <a:spcPct val="0"/>
              </a:spcBef>
            </a:pPr>
          </a:p>
        </p:txBody>
      </p:sp>
      <p:sp>
        <p:nvSpPr>
          <p:cNvPr name="TextBox 7" id="7"/>
          <p:cNvSpPr txBox="true"/>
          <p:nvPr/>
        </p:nvSpPr>
        <p:spPr>
          <a:xfrm rot="0">
            <a:off x="809639" y="6807200"/>
            <a:ext cx="7241685" cy="3479800"/>
          </a:xfrm>
          <a:prstGeom prst="rect">
            <a:avLst/>
          </a:prstGeom>
        </p:spPr>
        <p:txBody>
          <a:bodyPr anchor="t" rtlCol="false" tIns="0" lIns="0" bIns="0" rIns="0">
            <a:spAutoFit/>
          </a:bodyPr>
          <a:lstStyle/>
          <a:p>
            <a:pPr algn="l" marL="539749" indent="-269875" lvl="1">
              <a:lnSpc>
                <a:spcPts val="3499"/>
              </a:lnSpc>
              <a:spcBef>
                <a:spcPct val="0"/>
              </a:spcBef>
              <a:buFont typeface="Arial"/>
              <a:buChar char="•"/>
            </a:pPr>
            <a:r>
              <a:rPr lang="en-US" sz="2499">
                <a:solidFill>
                  <a:srgbClr val="000000"/>
                </a:solidFill>
                <a:latin typeface="Inter"/>
                <a:ea typeface="Inter"/>
                <a:cs typeface="Inter"/>
                <a:sym typeface="Inter"/>
              </a:rPr>
              <a:t>Análisis e</a:t>
            </a:r>
            <a:r>
              <a:rPr lang="en-US" sz="2499">
                <a:solidFill>
                  <a:srgbClr val="000000"/>
                </a:solidFill>
                <a:latin typeface="Inter"/>
                <a:ea typeface="Inter"/>
                <a:cs typeface="Inter"/>
                <a:sym typeface="Inter"/>
              </a:rPr>
              <a:t>stadístico </a:t>
            </a:r>
          </a:p>
          <a:p>
            <a:pPr algn="l" marL="539749" indent="-269875" lvl="1">
              <a:lnSpc>
                <a:spcPts val="3499"/>
              </a:lnSpc>
              <a:spcBef>
                <a:spcPct val="0"/>
              </a:spcBef>
              <a:buFont typeface="Arial"/>
              <a:buChar char="•"/>
            </a:pPr>
            <a:r>
              <a:rPr lang="en-US" sz="2499">
                <a:solidFill>
                  <a:srgbClr val="000000"/>
                </a:solidFill>
                <a:latin typeface="Inter"/>
                <a:ea typeface="Inter"/>
                <a:cs typeface="Inter"/>
                <a:sym typeface="Inter"/>
              </a:rPr>
              <a:t>Ciencia de datos </a:t>
            </a:r>
          </a:p>
          <a:p>
            <a:pPr algn="l" marL="539749" indent="-269875" lvl="1">
              <a:lnSpc>
                <a:spcPts val="3499"/>
              </a:lnSpc>
              <a:spcBef>
                <a:spcPct val="0"/>
              </a:spcBef>
              <a:buFont typeface="Arial"/>
              <a:buChar char="•"/>
            </a:pPr>
            <a:r>
              <a:rPr lang="en-US" sz="2499">
                <a:solidFill>
                  <a:srgbClr val="000000"/>
                </a:solidFill>
                <a:latin typeface="Inter"/>
                <a:ea typeface="Inter"/>
                <a:cs typeface="Inter"/>
                <a:sym typeface="Inter"/>
              </a:rPr>
              <a:t>Modelos cuantitativos </a:t>
            </a:r>
          </a:p>
          <a:p>
            <a:pPr algn="l" marL="539749" indent="-269875" lvl="1">
              <a:lnSpc>
                <a:spcPts val="3499"/>
              </a:lnSpc>
              <a:spcBef>
                <a:spcPct val="0"/>
              </a:spcBef>
              <a:buFont typeface="Arial"/>
              <a:buChar char="•"/>
            </a:pPr>
            <a:r>
              <a:rPr lang="en-US" sz="2499">
                <a:solidFill>
                  <a:srgbClr val="000000"/>
                </a:solidFill>
                <a:latin typeface="Inter"/>
                <a:ea typeface="Inter"/>
                <a:cs typeface="Inter"/>
                <a:sym typeface="Inter"/>
              </a:rPr>
              <a:t>Gestión del riesgo </a:t>
            </a:r>
          </a:p>
          <a:p>
            <a:pPr algn="l">
              <a:lnSpc>
                <a:spcPts val="3499"/>
              </a:lnSpc>
              <a:spcBef>
                <a:spcPct val="0"/>
              </a:spcBef>
            </a:pPr>
            <a:r>
              <a:rPr lang="en-US" sz="2499">
                <a:solidFill>
                  <a:srgbClr val="000000"/>
                </a:solidFill>
                <a:latin typeface="Inter"/>
                <a:ea typeface="Inter"/>
                <a:cs typeface="Inter"/>
                <a:sym typeface="Inter"/>
              </a:rPr>
              <a:t>Objetivo:</a:t>
            </a:r>
          </a:p>
          <a:p>
            <a:pPr algn="l">
              <a:lnSpc>
                <a:spcPts val="3499"/>
              </a:lnSpc>
              <a:spcBef>
                <a:spcPct val="0"/>
              </a:spcBef>
            </a:pPr>
            <a:r>
              <a:rPr lang="en-US" sz="2499">
                <a:solidFill>
                  <a:srgbClr val="000000"/>
                </a:solidFill>
                <a:latin typeface="Inter"/>
                <a:ea typeface="Inter"/>
                <a:cs typeface="Inter"/>
                <a:sym typeface="Inter"/>
              </a:rPr>
              <a:t>Utilizar datos históricos para construir un portafolio óptimo de inversión.</a:t>
            </a:r>
          </a:p>
          <a:p>
            <a:pPr algn="l">
              <a:lnSpc>
                <a:spcPts val="3499"/>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823379" y="6865936"/>
            <a:ext cx="5881900" cy="977151"/>
            <a:chOff x="0" y="0"/>
            <a:chExt cx="1549142" cy="257357"/>
          </a:xfrm>
        </p:grpSpPr>
        <p:sp>
          <p:nvSpPr>
            <p:cNvPr name="Freeform 3" id="3"/>
            <p:cNvSpPr/>
            <p:nvPr/>
          </p:nvSpPr>
          <p:spPr>
            <a:xfrm flipH="false" flipV="false" rot="0">
              <a:off x="0" y="0"/>
              <a:ext cx="1549142" cy="257357"/>
            </a:xfrm>
            <a:custGeom>
              <a:avLst/>
              <a:gdLst/>
              <a:ahLst/>
              <a:cxnLst/>
              <a:rect r="r" b="b" t="t" l="l"/>
              <a:pathLst>
                <a:path h="257357" w="1549142">
                  <a:moveTo>
                    <a:pt x="67128" y="0"/>
                  </a:moveTo>
                  <a:lnTo>
                    <a:pt x="1482015" y="0"/>
                  </a:lnTo>
                  <a:cubicBezTo>
                    <a:pt x="1519088" y="0"/>
                    <a:pt x="1549142" y="30054"/>
                    <a:pt x="1549142" y="67128"/>
                  </a:cubicBezTo>
                  <a:lnTo>
                    <a:pt x="1549142" y="190229"/>
                  </a:lnTo>
                  <a:cubicBezTo>
                    <a:pt x="1549142" y="208032"/>
                    <a:pt x="1542070" y="225106"/>
                    <a:pt x="1529481" y="237695"/>
                  </a:cubicBezTo>
                  <a:cubicBezTo>
                    <a:pt x="1516892" y="250284"/>
                    <a:pt x="1499818" y="257357"/>
                    <a:pt x="1482015" y="257357"/>
                  </a:cubicBezTo>
                  <a:lnTo>
                    <a:pt x="67128" y="257357"/>
                  </a:lnTo>
                  <a:cubicBezTo>
                    <a:pt x="30054" y="257357"/>
                    <a:pt x="0" y="227303"/>
                    <a:pt x="0" y="190229"/>
                  </a:cubicBezTo>
                  <a:lnTo>
                    <a:pt x="0" y="67128"/>
                  </a:lnTo>
                  <a:cubicBezTo>
                    <a:pt x="0" y="30054"/>
                    <a:pt x="30054" y="0"/>
                    <a:pt x="67128" y="0"/>
                  </a:cubicBezTo>
                  <a:close/>
                </a:path>
              </a:pathLst>
            </a:custGeom>
            <a:solidFill>
              <a:srgbClr val="F3F6FB"/>
            </a:solidFill>
          </p:spPr>
        </p:sp>
        <p:sp>
          <p:nvSpPr>
            <p:cNvPr name="TextBox 4" id="4"/>
            <p:cNvSpPr txBox="true"/>
            <p:nvPr/>
          </p:nvSpPr>
          <p:spPr>
            <a:xfrm>
              <a:off x="0" y="-38100"/>
              <a:ext cx="1549142" cy="295457"/>
            </a:xfrm>
            <a:prstGeom prst="rect">
              <a:avLst/>
            </a:prstGeom>
          </p:spPr>
          <p:txBody>
            <a:bodyPr anchor="ctr" rtlCol="false" tIns="50800" lIns="50800" bIns="50800" rIns="50800"/>
            <a:lstStyle/>
            <a:p>
              <a:pPr algn="ctr">
                <a:lnSpc>
                  <a:spcPts val="3499"/>
                </a:lnSpc>
              </a:pPr>
            </a:p>
          </p:txBody>
        </p:sp>
      </p:grpSp>
      <p:grpSp>
        <p:nvGrpSpPr>
          <p:cNvPr name="Group 5" id="5"/>
          <p:cNvGrpSpPr/>
          <p:nvPr/>
        </p:nvGrpSpPr>
        <p:grpSpPr>
          <a:xfrm rot="0">
            <a:off x="9823379" y="7966912"/>
            <a:ext cx="5881900" cy="977151"/>
            <a:chOff x="0" y="0"/>
            <a:chExt cx="1549142" cy="257357"/>
          </a:xfrm>
        </p:grpSpPr>
        <p:sp>
          <p:nvSpPr>
            <p:cNvPr name="Freeform 6" id="6"/>
            <p:cNvSpPr/>
            <p:nvPr/>
          </p:nvSpPr>
          <p:spPr>
            <a:xfrm flipH="false" flipV="false" rot="0">
              <a:off x="0" y="0"/>
              <a:ext cx="1549142" cy="257357"/>
            </a:xfrm>
            <a:custGeom>
              <a:avLst/>
              <a:gdLst/>
              <a:ahLst/>
              <a:cxnLst/>
              <a:rect r="r" b="b" t="t" l="l"/>
              <a:pathLst>
                <a:path h="257357" w="1549142">
                  <a:moveTo>
                    <a:pt x="67128" y="0"/>
                  </a:moveTo>
                  <a:lnTo>
                    <a:pt x="1482015" y="0"/>
                  </a:lnTo>
                  <a:cubicBezTo>
                    <a:pt x="1519088" y="0"/>
                    <a:pt x="1549142" y="30054"/>
                    <a:pt x="1549142" y="67128"/>
                  </a:cubicBezTo>
                  <a:lnTo>
                    <a:pt x="1549142" y="190229"/>
                  </a:lnTo>
                  <a:cubicBezTo>
                    <a:pt x="1549142" y="208032"/>
                    <a:pt x="1542070" y="225106"/>
                    <a:pt x="1529481" y="237695"/>
                  </a:cubicBezTo>
                  <a:cubicBezTo>
                    <a:pt x="1516892" y="250284"/>
                    <a:pt x="1499818" y="257357"/>
                    <a:pt x="1482015" y="257357"/>
                  </a:cubicBezTo>
                  <a:lnTo>
                    <a:pt x="67128" y="257357"/>
                  </a:lnTo>
                  <a:cubicBezTo>
                    <a:pt x="30054" y="257357"/>
                    <a:pt x="0" y="227303"/>
                    <a:pt x="0" y="190229"/>
                  </a:cubicBezTo>
                  <a:lnTo>
                    <a:pt x="0" y="67128"/>
                  </a:lnTo>
                  <a:cubicBezTo>
                    <a:pt x="0" y="30054"/>
                    <a:pt x="30054" y="0"/>
                    <a:pt x="67128" y="0"/>
                  </a:cubicBezTo>
                  <a:close/>
                </a:path>
              </a:pathLst>
            </a:custGeom>
            <a:solidFill>
              <a:srgbClr val="F3F6FB"/>
            </a:solidFill>
          </p:spPr>
        </p:sp>
        <p:sp>
          <p:nvSpPr>
            <p:cNvPr name="TextBox 7" id="7"/>
            <p:cNvSpPr txBox="true"/>
            <p:nvPr/>
          </p:nvSpPr>
          <p:spPr>
            <a:xfrm>
              <a:off x="0" y="-38100"/>
              <a:ext cx="1549142" cy="295457"/>
            </a:xfrm>
            <a:prstGeom prst="rect">
              <a:avLst/>
            </a:prstGeom>
          </p:spPr>
          <p:txBody>
            <a:bodyPr anchor="ctr" rtlCol="false" tIns="50800" lIns="50800" bIns="50800" rIns="50800"/>
            <a:lstStyle/>
            <a:p>
              <a:pPr algn="ctr">
                <a:lnSpc>
                  <a:spcPts val="3499"/>
                </a:lnSpc>
              </a:pPr>
            </a:p>
          </p:txBody>
        </p:sp>
      </p:grpSp>
      <p:sp>
        <p:nvSpPr>
          <p:cNvPr name="TextBox 8" id="8"/>
          <p:cNvSpPr txBox="true"/>
          <p:nvPr/>
        </p:nvSpPr>
        <p:spPr>
          <a:xfrm rot="0">
            <a:off x="741388" y="163063"/>
            <a:ext cx="7534275" cy="1450966"/>
          </a:xfrm>
          <a:prstGeom prst="rect">
            <a:avLst/>
          </a:prstGeom>
        </p:spPr>
        <p:txBody>
          <a:bodyPr anchor="t" rtlCol="false" tIns="0" lIns="0" bIns="0" rIns="0">
            <a:spAutoFit/>
          </a:bodyPr>
          <a:lstStyle/>
          <a:p>
            <a:pPr algn="l">
              <a:lnSpc>
                <a:spcPts val="11900"/>
              </a:lnSpc>
            </a:pPr>
            <a:r>
              <a:rPr lang="en-US" sz="8500" b="true">
                <a:solidFill>
                  <a:srgbClr val="1F4FD8"/>
                </a:solidFill>
                <a:latin typeface="Inter Bold"/>
                <a:ea typeface="Inter Bold"/>
                <a:cs typeface="Inter Bold"/>
                <a:sym typeface="Inter Bold"/>
              </a:rPr>
              <a:t>OBTENCIÓN </a:t>
            </a:r>
          </a:p>
        </p:txBody>
      </p:sp>
      <p:sp>
        <p:nvSpPr>
          <p:cNvPr name="TextBox 9" id="9"/>
          <p:cNvSpPr txBox="true"/>
          <p:nvPr/>
        </p:nvSpPr>
        <p:spPr>
          <a:xfrm rot="0">
            <a:off x="741388" y="1288354"/>
            <a:ext cx="8246716" cy="2795553"/>
          </a:xfrm>
          <a:prstGeom prst="rect">
            <a:avLst/>
          </a:prstGeom>
        </p:spPr>
        <p:txBody>
          <a:bodyPr anchor="t" rtlCol="false" tIns="0" lIns="0" bIns="0" rIns="0">
            <a:spAutoFit/>
          </a:bodyPr>
          <a:lstStyle/>
          <a:p>
            <a:pPr algn="l">
              <a:lnSpc>
                <a:spcPts val="11289"/>
              </a:lnSpc>
            </a:pPr>
            <a:r>
              <a:rPr lang="en-US" sz="8063" b="true">
                <a:solidFill>
                  <a:srgbClr val="3B82F6"/>
                </a:solidFill>
                <a:latin typeface="Inter Bold"/>
                <a:ea typeface="Inter Bold"/>
                <a:cs typeface="Inter Bold"/>
                <a:sym typeface="Inter Bold"/>
              </a:rPr>
              <a:t>DE </a:t>
            </a:r>
            <a:r>
              <a:rPr lang="en-US" b="true" sz="8063">
                <a:solidFill>
                  <a:srgbClr val="3B82F6"/>
                </a:solidFill>
                <a:latin typeface="Inter Bold"/>
                <a:ea typeface="Inter Bold"/>
                <a:cs typeface="Inter Bold"/>
                <a:sym typeface="Inter Bold"/>
              </a:rPr>
              <a:t>DATOS EN R</a:t>
            </a:r>
          </a:p>
          <a:p>
            <a:pPr algn="l">
              <a:lnSpc>
                <a:spcPts val="11289"/>
              </a:lnSpc>
            </a:pPr>
          </a:p>
        </p:txBody>
      </p:sp>
      <p:grpSp>
        <p:nvGrpSpPr>
          <p:cNvPr name="Group 10" id="10"/>
          <p:cNvGrpSpPr/>
          <p:nvPr/>
        </p:nvGrpSpPr>
        <p:grpSpPr>
          <a:xfrm rot="0">
            <a:off x="6489521" y="6865936"/>
            <a:ext cx="4525327" cy="977151"/>
            <a:chOff x="0" y="0"/>
            <a:chExt cx="1191856" cy="257357"/>
          </a:xfrm>
        </p:grpSpPr>
        <p:sp>
          <p:nvSpPr>
            <p:cNvPr name="Freeform 11" id="11"/>
            <p:cNvSpPr/>
            <p:nvPr/>
          </p:nvSpPr>
          <p:spPr>
            <a:xfrm flipH="false" flipV="false" rot="0">
              <a:off x="0" y="0"/>
              <a:ext cx="1191856" cy="257357"/>
            </a:xfrm>
            <a:custGeom>
              <a:avLst/>
              <a:gdLst/>
              <a:ahLst/>
              <a:cxnLst/>
              <a:rect r="r" b="b" t="t" l="l"/>
              <a:pathLst>
                <a:path h="257357" w="1191856">
                  <a:moveTo>
                    <a:pt x="87251" y="0"/>
                  </a:moveTo>
                  <a:lnTo>
                    <a:pt x="1104605" y="0"/>
                  </a:lnTo>
                  <a:cubicBezTo>
                    <a:pt x="1127745" y="0"/>
                    <a:pt x="1149938" y="9192"/>
                    <a:pt x="1166301" y="25555"/>
                  </a:cubicBezTo>
                  <a:cubicBezTo>
                    <a:pt x="1182663" y="41918"/>
                    <a:pt x="1191856" y="64110"/>
                    <a:pt x="1191856" y="87251"/>
                  </a:cubicBezTo>
                  <a:lnTo>
                    <a:pt x="1191856" y="170106"/>
                  </a:lnTo>
                  <a:cubicBezTo>
                    <a:pt x="1191856" y="193246"/>
                    <a:pt x="1182663" y="215439"/>
                    <a:pt x="1166301" y="231801"/>
                  </a:cubicBezTo>
                  <a:cubicBezTo>
                    <a:pt x="1149938" y="248164"/>
                    <a:pt x="1127745" y="257357"/>
                    <a:pt x="1104605" y="257357"/>
                  </a:cubicBezTo>
                  <a:lnTo>
                    <a:pt x="87251" y="257357"/>
                  </a:lnTo>
                  <a:cubicBezTo>
                    <a:pt x="39063" y="257357"/>
                    <a:pt x="0" y="218293"/>
                    <a:pt x="0" y="170106"/>
                  </a:cubicBezTo>
                  <a:lnTo>
                    <a:pt x="0" y="87251"/>
                  </a:lnTo>
                  <a:cubicBezTo>
                    <a:pt x="0" y="64110"/>
                    <a:pt x="9192" y="41918"/>
                    <a:pt x="25555" y="25555"/>
                  </a:cubicBezTo>
                  <a:cubicBezTo>
                    <a:pt x="41918" y="9192"/>
                    <a:pt x="64110" y="0"/>
                    <a:pt x="87251" y="0"/>
                  </a:cubicBezTo>
                  <a:close/>
                </a:path>
              </a:pathLst>
            </a:custGeom>
            <a:solidFill>
              <a:srgbClr val="1F4FD8"/>
            </a:solidFill>
          </p:spPr>
        </p:sp>
        <p:sp>
          <p:nvSpPr>
            <p:cNvPr name="TextBox 12" id="12"/>
            <p:cNvSpPr txBox="true"/>
            <p:nvPr/>
          </p:nvSpPr>
          <p:spPr>
            <a:xfrm>
              <a:off x="0" y="-38100"/>
              <a:ext cx="1191856" cy="295457"/>
            </a:xfrm>
            <a:prstGeom prst="rect">
              <a:avLst/>
            </a:prstGeom>
          </p:spPr>
          <p:txBody>
            <a:bodyPr anchor="ctr" rtlCol="false" tIns="50800" lIns="50800" bIns="50800" rIns="50800"/>
            <a:lstStyle/>
            <a:p>
              <a:pPr algn="ctr">
                <a:lnSpc>
                  <a:spcPts val="3499"/>
                </a:lnSpc>
              </a:pPr>
            </a:p>
          </p:txBody>
        </p:sp>
      </p:grpSp>
      <p:grpSp>
        <p:nvGrpSpPr>
          <p:cNvPr name="Group 13" id="13"/>
          <p:cNvGrpSpPr/>
          <p:nvPr/>
        </p:nvGrpSpPr>
        <p:grpSpPr>
          <a:xfrm rot="0">
            <a:off x="6489521" y="7966912"/>
            <a:ext cx="4525327" cy="977151"/>
            <a:chOff x="0" y="0"/>
            <a:chExt cx="1191856" cy="257357"/>
          </a:xfrm>
        </p:grpSpPr>
        <p:sp>
          <p:nvSpPr>
            <p:cNvPr name="Freeform 14" id="14"/>
            <p:cNvSpPr/>
            <p:nvPr/>
          </p:nvSpPr>
          <p:spPr>
            <a:xfrm flipH="false" flipV="false" rot="0">
              <a:off x="0" y="0"/>
              <a:ext cx="1191856" cy="257357"/>
            </a:xfrm>
            <a:custGeom>
              <a:avLst/>
              <a:gdLst/>
              <a:ahLst/>
              <a:cxnLst/>
              <a:rect r="r" b="b" t="t" l="l"/>
              <a:pathLst>
                <a:path h="257357" w="1191856">
                  <a:moveTo>
                    <a:pt x="87251" y="0"/>
                  </a:moveTo>
                  <a:lnTo>
                    <a:pt x="1104605" y="0"/>
                  </a:lnTo>
                  <a:cubicBezTo>
                    <a:pt x="1127745" y="0"/>
                    <a:pt x="1149938" y="9192"/>
                    <a:pt x="1166301" y="25555"/>
                  </a:cubicBezTo>
                  <a:cubicBezTo>
                    <a:pt x="1182663" y="41918"/>
                    <a:pt x="1191856" y="64110"/>
                    <a:pt x="1191856" y="87251"/>
                  </a:cubicBezTo>
                  <a:lnTo>
                    <a:pt x="1191856" y="170106"/>
                  </a:lnTo>
                  <a:cubicBezTo>
                    <a:pt x="1191856" y="193246"/>
                    <a:pt x="1182663" y="215439"/>
                    <a:pt x="1166301" y="231801"/>
                  </a:cubicBezTo>
                  <a:cubicBezTo>
                    <a:pt x="1149938" y="248164"/>
                    <a:pt x="1127745" y="257357"/>
                    <a:pt x="1104605" y="257357"/>
                  </a:cubicBezTo>
                  <a:lnTo>
                    <a:pt x="87251" y="257357"/>
                  </a:lnTo>
                  <a:cubicBezTo>
                    <a:pt x="39063" y="257357"/>
                    <a:pt x="0" y="218293"/>
                    <a:pt x="0" y="170106"/>
                  </a:cubicBezTo>
                  <a:lnTo>
                    <a:pt x="0" y="87251"/>
                  </a:lnTo>
                  <a:cubicBezTo>
                    <a:pt x="0" y="64110"/>
                    <a:pt x="9192" y="41918"/>
                    <a:pt x="25555" y="25555"/>
                  </a:cubicBezTo>
                  <a:cubicBezTo>
                    <a:pt x="41918" y="9192"/>
                    <a:pt x="64110" y="0"/>
                    <a:pt x="87251" y="0"/>
                  </a:cubicBezTo>
                  <a:close/>
                </a:path>
              </a:pathLst>
            </a:custGeom>
            <a:solidFill>
              <a:srgbClr val="1F4FD8"/>
            </a:solidFill>
          </p:spPr>
        </p:sp>
        <p:sp>
          <p:nvSpPr>
            <p:cNvPr name="TextBox 15" id="15"/>
            <p:cNvSpPr txBox="true"/>
            <p:nvPr/>
          </p:nvSpPr>
          <p:spPr>
            <a:xfrm>
              <a:off x="0" y="-38100"/>
              <a:ext cx="1191856" cy="295457"/>
            </a:xfrm>
            <a:prstGeom prst="rect">
              <a:avLst/>
            </a:prstGeom>
          </p:spPr>
          <p:txBody>
            <a:bodyPr anchor="ctr" rtlCol="false" tIns="50800" lIns="50800" bIns="50800" rIns="50800"/>
            <a:lstStyle/>
            <a:p>
              <a:pPr algn="ctr">
                <a:lnSpc>
                  <a:spcPts val="3499"/>
                </a:lnSpc>
              </a:pPr>
            </a:p>
          </p:txBody>
        </p:sp>
      </p:grpSp>
      <p:grpSp>
        <p:nvGrpSpPr>
          <p:cNvPr name="Group 16" id="16"/>
          <p:cNvGrpSpPr/>
          <p:nvPr/>
        </p:nvGrpSpPr>
        <p:grpSpPr>
          <a:xfrm rot="0">
            <a:off x="1626746" y="4004828"/>
            <a:ext cx="3621170" cy="747385"/>
            <a:chOff x="0" y="0"/>
            <a:chExt cx="953724" cy="196842"/>
          </a:xfrm>
        </p:grpSpPr>
        <p:sp>
          <p:nvSpPr>
            <p:cNvPr name="Freeform 17" id="17"/>
            <p:cNvSpPr/>
            <p:nvPr/>
          </p:nvSpPr>
          <p:spPr>
            <a:xfrm flipH="false" flipV="false" rot="0">
              <a:off x="0" y="0"/>
              <a:ext cx="953724" cy="196842"/>
            </a:xfrm>
            <a:custGeom>
              <a:avLst/>
              <a:gdLst/>
              <a:ahLst/>
              <a:cxnLst/>
              <a:rect r="r" b="b" t="t" l="l"/>
              <a:pathLst>
                <a:path h="196842" w="953724">
                  <a:moveTo>
                    <a:pt x="98421" y="0"/>
                  </a:moveTo>
                  <a:lnTo>
                    <a:pt x="855303" y="0"/>
                  </a:lnTo>
                  <a:cubicBezTo>
                    <a:pt x="909659" y="0"/>
                    <a:pt x="953724" y="44065"/>
                    <a:pt x="953724" y="98421"/>
                  </a:cubicBezTo>
                  <a:lnTo>
                    <a:pt x="953724" y="98421"/>
                  </a:lnTo>
                  <a:cubicBezTo>
                    <a:pt x="953724" y="124524"/>
                    <a:pt x="943354" y="149558"/>
                    <a:pt x="924897" y="168015"/>
                  </a:cubicBezTo>
                  <a:cubicBezTo>
                    <a:pt x="906439" y="186473"/>
                    <a:pt x="881406" y="196842"/>
                    <a:pt x="855303" y="196842"/>
                  </a:cubicBezTo>
                  <a:lnTo>
                    <a:pt x="98421" y="196842"/>
                  </a:lnTo>
                  <a:cubicBezTo>
                    <a:pt x="72318" y="196842"/>
                    <a:pt x="47284" y="186473"/>
                    <a:pt x="28827" y="168015"/>
                  </a:cubicBezTo>
                  <a:cubicBezTo>
                    <a:pt x="10369" y="149558"/>
                    <a:pt x="0" y="124524"/>
                    <a:pt x="0" y="98421"/>
                  </a:cubicBezTo>
                  <a:lnTo>
                    <a:pt x="0" y="98421"/>
                  </a:lnTo>
                  <a:cubicBezTo>
                    <a:pt x="0" y="72318"/>
                    <a:pt x="10369" y="47284"/>
                    <a:pt x="28827" y="28827"/>
                  </a:cubicBezTo>
                  <a:cubicBezTo>
                    <a:pt x="47284" y="10369"/>
                    <a:pt x="72318" y="0"/>
                    <a:pt x="98421" y="0"/>
                  </a:cubicBezTo>
                  <a:close/>
                </a:path>
              </a:pathLst>
            </a:custGeom>
            <a:solidFill>
              <a:srgbClr val="1F4FD8"/>
            </a:solidFill>
          </p:spPr>
        </p:sp>
        <p:sp>
          <p:nvSpPr>
            <p:cNvPr name="TextBox 18" id="18"/>
            <p:cNvSpPr txBox="true"/>
            <p:nvPr/>
          </p:nvSpPr>
          <p:spPr>
            <a:xfrm>
              <a:off x="0" y="-38100"/>
              <a:ext cx="953724" cy="234942"/>
            </a:xfrm>
            <a:prstGeom prst="rect">
              <a:avLst/>
            </a:prstGeom>
          </p:spPr>
          <p:txBody>
            <a:bodyPr anchor="ctr" rtlCol="false" tIns="50800" lIns="50800" bIns="50800" rIns="50800"/>
            <a:lstStyle/>
            <a:p>
              <a:pPr algn="ctr">
                <a:lnSpc>
                  <a:spcPts val="3499"/>
                </a:lnSpc>
              </a:pPr>
            </a:p>
          </p:txBody>
        </p:sp>
      </p:grpSp>
      <p:sp>
        <p:nvSpPr>
          <p:cNvPr name="Freeform 19" id="19"/>
          <p:cNvSpPr/>
          <p:nvPr/>
        </p:nvSpPr>
        <p:spPr>
          <a:xfrm flipH="false" flipV="false" rot="0">
            <a:off x="4606817" y="8171032"/>
            <a:ext cx="1654105" cy="1600346"/>
          </a:xfrm>
          <a:custGeom>
            <a:avLst/>
            <a:gdLst/>
            <a:ahLst/>
            <a:cxnLst/>
            <a:rect r="r" b="b" t="t" l="l"/>
            <a:pathLst>
              <a:path h="1600346" w="1654105">
                <a:moveTo>
                  <a:pt x="0" y="0"/>
                </a:moveTo>
                <a:lnTo>
                  <a:pt x="1654104" y="0"/>
                </a:lnTo>
                <a:lnTo>
                  <a:pt x="1654104" y="1600346"/>
                </a:lnTo>
                <a:lnTo>
                  <a:pt x="0" y="16003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0" id="20"/>
          <p:cNvGrpSpPr/>
          <p:nvPr/>
        </p:nvGrpSpPr>
        <p:grpSpPr>
          <a:xfrm rot="0">
            <a:off x="11377400" y="1028700"/>
            <a:ext cx="5765854" cy="5679177"/>
            <a:chOff x="0" y="0"/>
            <a:chExt cx="893282" cy="879853"/>
          </a:xfrm>
        </p:grpSpPr>
        <p:sp>
          <p:nvSpPr>
            <p:cNvPr name="Freeform 21" id="21"/>
            <p:cNvSpPr/>
            <p:nvPr/>
          </p:nvSpPr>
          <p:spPr>
            <a:xfrm flipH="false" flipV="false" rot="0">
              <a:off x="0" y="0"/>
              <a:ext cx="893282" cy="879853"/>
            </a:xfrm>
            <a:custGeom>
              <a:avLst/>
              <a:gdLst/>
              <a:ahLst/>
              <a:cxnLst/>
              <a:rect r="r" b="b" t="t" l="l"/>
              <a:pathLst>
                <a:path h="879853" w="893282">
                  <a:moveTo>
                    <a:pt x="53709" y="0"/>
                  </a:moveTo>
                  <a:lnTo>
                    <a:pt x="839573" y="0"/>
                  </a:lnTo>
                  <a:cubicBezTo>
                    <a:pt x="869235" y="0"/>
                    <a:pt x="893282" y="24046"/>
                    <a:pt x="893282" y="53709"/>
                  </a:cubicBezTo>
                  <a:lnTo>
                    <a:pt x="893282" y="826144"/>
                  </a:lnTo>
                  <a:cubicBezTo>
                    <a:pt x="893282" y="855807"/>
                    <a:pt x="869235" y="879853"/>
                    <a:pt x="839573" y="879853"/>
                  </a:cubicBezTo>
                  <a:lnTo>
                    <a:pt x="53709" y="879853"/>
                  </a:lnTo>
                  <a:cubicBezTo>
                    <a:pt x="24046" y="879853"/>
                    <a:pt x="0" y="855807"/>
                    <a:pt x="0" y="826144"/>
                  </a:cubicBezTo>
                  <a:lnTo>
                    <a:pt x="0" y="53709"/>
                  </a:lnTo>
                  <a:cubicBezTo>
                    <a:pt x="0" y="24046"/>
                    <a:pt x="24046" y="0"/>
                    <a:pt x="53709" y="0"/>
                  </a:cubicBezTo>
                  <a:close/>
                </a:path>
              </a:pathLst>
            </a:custGeom>
            <a:blipFill>
              <a:blip r:embed="rId4"/>
              <a:stretch>
                <a:fillRect l="-23918" t="0" r="-23918" b="0"/>
              </a:stretch>
            </a:blipFill>
          </p:spPr>
        </p:sp>
      </p:grpSp>
      <p:sp>
        <p:nvSpPr>
          <p:cNvPr name="TextBox 22" id="22"/>
          <p:cNvSpPr txBox="true"/>
          <p:nvPr/>
        </p:nvSpPr>
        <p:spPr>
          <a:xfrm rot="0">
            <a:off x="11242687" y="8271304"/>
            <a:ext cx="4346546" cy="1289050"/>
          </a:xfrm>
          <a:prstGeom prst="rect">
            <a:avLst/>
          </a:prstGeom>
        </p:spPr>
        <p:txBody>
          <a:bodyPr anchor="t" rtlCol="false" tIns="0" lIns="0" bIns="0" rIns="0">
            <a:spAutoFit/>
          </a:bodyPr>
          <a:lstStyle/>
          <a:p>
            <a:pPr algn="l">
              <a:lnSpc>
                <a:spcPts val="3499"/>
              </a:lnSpc>
            </a:pPr>
            <a:r>
              <a:rPr lang="en-US" sz="2499">
                <a:solidFill>
                  <a:srgbClr val="000000"/>
                </a:solidFill>
                <a:latin typeface="Inter"/>
                <a:ea typeface="Inter"/>
                <a:cs typeface="Inter"/>
                <a:sym typeface="Inter"/>
              </a:rPr>
              <a:t>("NVDA")</a:t>
            </a:r>
          </a:p>
          <a:p>
            <a:pPr algn="l">
              <a:lnSpc>
                <a:spcPts val="3499"/>
              </a:lnSpc>
            </a:pPr>
          </a:p>
          <a:p>
            <a:pPr algn="l">
              <a:lnSpc>
                <a:spcPts val="3499"/>
              </a:lnSpc>
              <a:spcBef>
                <a:spcPct val="0"/>
              </a:spcBef>
            </a:pPr>
          </a:p>
        </p:txBody>
      </p:sp>
      <p:sp>
        <p:nvSpPr>
          <p:cNvPr name="Freeform 23" id="23"/>
          <p:cNvSpPr/>
          <p:nvPr/>
        </p:nvSpPr>
        <p:spPr>
          <a:xfrm flipH="false" flipV="false" rot="0">
            <a:off x="8429906" y="270477"/>
            <a:ext cx="1116395" cy="1116395"/>
          </a:xfrm>
          <a:custGeom>
            <a:avLst/>
            <a:gdLst/>
            <a:ahLst/>
            <a:cxnLst/>
            <a:rect r="r" b="b" t="t" l="l"/>
            <a:pathLst>
              <a:path h="1116395" w="1116395">
                <a:moveTo>
                  <a:pt x="0" y="0"/>
                </a:moveTo>
                <a:lnTo>
                  <a:pt x="1116396" y="0"/>
                </a:lnTo>
                <a:lnTo>
                  <a:pt x="1116396" y="1116396"/>
                </a:lnTo>
                <a:lnTo>
                  <a:pt x="0" y="111639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4" id="24"/>
          <p:cNvGrpSpPr/>
          <p:nvPr/>
        </p:nvGrpSpPr>
        <p:grpSpPr>
          <a:xfrm rot="0">
            <a:off x="1626746" y="3057418"/>
            <a:ext cx="3621170" cy="747385"/>
            <a:chOff x="0" y="0"/>
            <a:chExt cx="953724" cy="196842"/>
          </a:xfrm>
        </p:grpSpPr>
        <p:sp>
          <p:nvSpPr>
            <p:cNvPr name="Freeform 25" id="25"/>
            <p:cNvSpPr/>
            <p:nvPr/>
          </p:nvSpPr>
          <p:spPr>
            <a:xfrm flipH="false" flipV="false" rot="0">
              <a:off x="0" y="0"/>
              <a:ext cx="953724" cy="196842"/>
            </a:xfrm>
            <a:custGeom>
              <a:avLst/>
              <a:gdLst/>
              <a:ahLst/>
              <a:cxnLst/>
              <a:rect r="r" b="b" t="t" l="l"/>
              <a:pathLst>
                <a:path h="196842" w="953724">
                  <a:moveTo>
                    <a:pt x="98421" y="0"/>
                  </a:moveTo>
                  <a:lnTo>
                    <a:pt x="855303" y="0"/>
                  </a:lnTo>
                  <a:cubicBezTo>
                    <a:pt x="909659" y="0"/>
                    <a:pt x="953724" y="44065"/>
                    <a:pt x="953724" y="98421"/>
                  </a:cubicBezTo>
                  <a:lnTo>
                    <a:pt x="953724" y="98421"/>
                  </a:lnTo>
                  <a:cubicBezTo>
                    <a:pt x="953724" y="124524"/>
                    <a:pt x="943354" y="149558"/>
                    <a:pt x="924897" y="168015"/>
                  </a:cubicBezTo>
                  <a:cubicBezTo>
                    <a:pt x="906439" y="186473"/>
                    <a:pt x="881406" y="196842"/>
                    <a:pt x="855303" y="196842"/>
                  </a:cubicBezTo>
                  <a:lnTo>
                    <a:pt x="98421" y="196842"/>
                  </a:lnTo>
                  <a:cubicBezTo>
                    <a:pt x="72318" y="196842"/>
                    <a:pt x="47284" y="186473"/>
                    <a:pt x="28827" y="168015"/>
                  </a:cubicBezTo>
                  <a:cubicBezTo>
                    <a:pt x="10369" y="149558"/>
                    <a:pt x="0" y="124524"/>
                    <a:pt x="0" y="98421"/>
                  </a:cubicBezTo>
                  <a:lnTo>
                    <a:pt x="0" y="98421"/>
                  </a:lnTo>
                  <a:cubicBezTo>
                    <a:pt x="0" y="72318"/>
                    <a:pt x="10369" y="47284"/>
                    <a:pt x="28827" y="28827"/>
                  </a:cubicBezTo>
                  <a:cubicBezTo>
                    <a:pt x="47284" y="10369"/>
                    <a:pt x="72318" y="0"/>
                    <a:pt x="98421" y="0"/>
                  </a:cubicBezTo>
                  <a:close/>
                </a:path>
              </a:pathLst>
            </a:custGeom>
            <a:solidFill>
              <a:srgbClr val="1F4FD8"/>
            </a:solidFill>
          </p:spPr>
        </p:sp>
        <p:sp>
          <p:nvSpPr>
            <p:cNvPr name="TextBox 26" id="26"/>
            <p:cNvSpPr txBox="true"/>
            <p:nvPr/>
          </p:nvSpPr>
          <p:spPr>
            <a:xfrm>
              <a:off x="0" y="-38100"/>
              <a:ext cx="953724" cy="234942"/>
            </a:xfrm>
            <a:prstGeom prst="rect">
              <a:avLst/>
            </a:prstGeom>
          </p:spPr>
          <p:txBody>
            <a:bodyPr anchor="ctr" rtlCol="false" tIns="50800" lIns="50800" bIns="50800" rIns="50800"/>
            <a:lstStyle/>
            <a:p>
              <a:pPr algn="ctr">
                <a:lnSpc>
                  <a:spcPts val="3499"/>
                </a:lnSpc>
              </a:pPr>
            </a:p>
          </p:txBody>
        </p:sp>
      </p:grpSp>
      <p:grpSp>
        <p:nvGrpSpPr>
          <p:cNvPr name="Group 27" id="27"/>
          <p:cNvGrpSpPr/>
          <p:nvPr/>
        </p:nvGrpSpPr>
        <p:grpSpPr>
          <a:xfrm rot="0">
            <a:off x="1716137" y="5899647"/>
            <a:ext cx="3621170" cy="747385"/>
            <a:chOff x="0" y="0"/>
            <a:chExt cx="953724" cy="196842"/>
          </a:xfrm>
        </p:grpSpPr>
        <p:sp>
          <p:nvSpPr>
            <p:cNvPr name="Freeform 28" id="28"/>
            <p:cNvSpPr/>
            <p:nvPr/>
          </p:nvSpPr>
          <p:spPr>
            <a:xfrm flipH="false" flipV="false" rot="0">
              <a:off x="0" y="0"/>
              <a:ext cx="953724" cy="196842"/>
            </a:xfrm>
            <a:custGeom>
              <a:avLst/>
              <a:gdLst/>
              <a:ahLst/>
              <a:cxnLst/>
              <a:rect r="r" b="b" t="t" l="l"/>
              <a:pathLst>
                <a:path h="196842" w="953724">
                  <a:moveTo>
                    <a:pt x="98421" y="0"/>
                  </a:moveTo>
                  <a:lnTo>
                    <a:pt x="855303" y="0"/>
                  </a:lnTo>
                  <a:cubicBezTo>
                    <a:pt x="909659" y="0"/>
                    <a:pt x="953724" y="44065"/>
                    <a:pt x="953724" y="98421"/>
                  </a:cubicBezTo>
                  <a:lnTo>
                    <a:pt x="953724" y="98421"/>
                  </a:lnTo>
                  <a:cubicBezTo>
                    <a:pt x="953724" y="124524"/>
                    <a:pt x="943354" y="149558"/>
                    <a:pt x="924897" y="168015"/>
                  </a:cubicBezTo>
                  <a:cubicBezTo>
                    <a:pt x="906439" y="186473"/>
                    <a:pt x="881406" y="196842"/>
                    <a:pt x="855303" y="196842"/>
                  </a:cubicBezTo>
                  <a:lnTo>
                    <a:pt x="98421" y="196842"/>
                  </a:lnTo>
                  <a:cubicBezTo>
                    <a:pt x="72318" y="196842"/>
                    <a:pt x="47284" y="186473"/>
                    <a:pt x="28827" y="168015"/>
                  </a:cubicBezTo>
                  <a:cubicBezTo>
                    <a:pt x="10369" y="149558"/>
                    <a:pt x="0" y="124524"/>
                    <a:pt x="0" y="98421"/>
                  </a:cubicBezTo>
                  <a:lnTo>
                    <a:pt x="0" y="98421"/>
                  </a:lnTo>
                  <a:cubicBezTo>
                    <a:pt x="0" y="72318"/>
                    <a:pt x="10369" y="47284"/>
                    <a:pt x="28827" y="28827"/>
                  </a:cubicBezTo>
                  <a:cubicBezTo>
                    <a:pt x="47284" y="10369"/>
                    <a:pt x="72318" y="0"/>
                    <a:pt x="98421" y="0"/>
                  </a:cubicBezTo>
                  <a:close/>
                </a:path>
              </a:pathLst>
            </a:custGeom>
            <a:solidFill>
              <a:srgbClr val="1F4FD8"/>
            </a:solidFill>
          </p:spPr>
        </p:sp>
        <p:sp>
          <p:nvSpPr>
            <p:cNvPr name="TextBox 29" id="29"/>
            <p:cNvSpPr txBox="true"/>
            <p:nvPr/>
          </p:nvSpPr>
          <p:spPr>
            <a:xfrm>
              <a:off x="0" y="-38100"/>
              <a:ext cx="953724" cy="234942"/>
            </a:xfrm>
            <a:prstGeom prst="rect">
              <a:avLst/>
            </a:prstGeom>
          </p:spPr>
          <p:txBody>
            <a:bodyPr anchor="ctr" rtlCol="false" tIns="50800" lIns="50800" bIns="50800" rIns="50800"/>
            <a:lstStyle/>
            <a:p>
              <a:pPr algn="ctr">
                <a:lnSpc>
                  <a:spcPts val="3499"/>
                </a:lnSpc>
              </a:pPr>
            </a:p>
          </p:txBody>
        </p:sp>
      </p:grpSp>
      <p:grpSp>
        <p:nvGrpSpPr>
          <p:cNvPr name="Group 30" id="30"/>
          <p:cNvGrpSpPr/>
          <p:nvPr/>
        </p:nvGrpSpPr>
        <p:grpSpPr>
          <a:xfrm rot="0">
            <a:off x="1716137" y="4952237"/>
            <a:ext cx="3621170" cy="747385"/>
            <a:chOff x="0" y="0"/>
            <a:chExt cx="953724" cy="196842"/>
          </a:xfrm>
        </p:grpSpPr>
        <p:sp>
          <p:nvSpPr>
            <p:cNvPr name="Freeform 31" id="31"/>
            <p:cNvSpPr/>
            <p:nvPr/>
          </p:nvSpPr>
          <p:spPr>
            <a:xfrm flipH="false" flipV="false" rot="0">
              <a:off x="0" y="0"/>
              <a:ext cx="953724" cy="196842"/>
            </a:xfrm>
            <a:custGeom>
              <a:avLst/>
              <a:gdLst/>
              <a:ahLst/>
              <a:cxnLst/>
              <a:rect r="r" b="b" t="t" l="l"/>
              <a:pathLst>
                <a:path h="196842" w="953724">
                  <a:moveTo>
                    <a:pt x="98421" y="0"/>
                  </a:moveTo>
                  <a:lnTo>
                    <a:pt x="855303" y="0"/>
                  </a:lnTo>
                  <a:cubicBezTo>
                    <a:pt x="909659" y="0"/>
                    <a:pt x="953724" y="44065"/>
                    <a:pt x="953724" y="98421"/>
                  </a:cubicBezTo>
                  <a:lnTo>
                    <a:pt x="953724" y="98421"/>
                  </a:lnTo>
                  <a:cubicBezTo>
                    <a:pt x="953724" y="124524"/>
                    <a:pt x="943354" y="149558"/>
                    <a:pt x="924897" y="168015"/>
                  </a:cubicBezTo>
                  <a:cubicBezTo>
                    <a:pt x="906439" y="186473"/>
                    <a:pt x="881406" y="196842"/>
                    <a:pt x="855303" y="196842"/>
                  </a:cubicBezTo>
                  <a:lnTo>
                    <a:pt x="98421" y="196842"/>
                  </a:lnTo>
                  <a:cubicBezTo>
                    <a:pt x="72318" y="196842"/>
                    <a:pt x="47284" y="186473"/>
                    <a:pt x="28827" y="168015"/>
                  </a:cubicBezTo>
                  <a:cubicBezTo>
                    <a:pt x="10369" y="149558"/>
                    <a:pt x="0" y="124524"/>
                    <a:pt x="0" y="98421"/>
                  </a:cubicBezTo>
                  <a:lnTo>
                    <a:pt x="0" y="98421"/>
                  </a:lnTo>
                  <a:cubicBezTo>
                    <a:pt x="0" y="72318"/>
                    <a:pt x="10369" y="47284"/>
                    <a:pt x="28827" y="28827"/>
                  </a:cubicBezTo>
                  <a:cubicBezTo>
                    <a:pt x="47284" y="10369"/>
                    <a:pt x="72318" y="0"/>
                    <a:pt x="98421" y="0"/>
                  </a:cubicBezTo>
                  <a:close/>
                </a:path>
              </a:pathLst>
            </a:custGeom>
            <a:solidFill>
              <a:srgbClr val="1F4FD8"/>
            </a:solidFill>
          </p:spPr>
        </p:sp>
        <p:sp>
          <p:nvSpPr>
            <p:cNvPr name="TextBox 32" id="32"/>
            <p:cNvSpPr txBox="true"/>
            <p:nvPr/>
          </p:nvSpPr>
          <p:spPr>
            <a:xfrm>
              <a:off x="0" y="-38100"/>
              <a:ext cx="953724" cy="234942"/>
            </a:xfrm>
            <a:prstGeom prst="rect">
              <a:avLst/>
            </a:prstGeom>
          </p:spPr>
          <p:txBody>
            <a:bodyPr anchor="ctr" rtlCol="false" tIns="50800" lIns="50800" bIns="50800" rIns="50800"/>
            <a:lstStyle/>
            <a:p>
              <a:pPr algn="ctr">
                <a:lnSpc>
                  <a:spcPts val="3499"/>
                </a:lnSpc>
              </a:pPr>
            </a:p>
          </p:txBody>
        </p:sp>
      </p:grpSp>
      <p:grpSp>
        <p:nvGrpSpPr>
          <p:cNvPr name="Group 33" id="33"/>
          <p:cNvGrpSpPr/>
          <p:nvPr/>
        </p:nvGrpSpPr>
        <p:grpSpPr>
          <a:xfrm rot="0">
            <a:off x="9823379" y="9105987"/>
            <a:ext cx="5881900" cy="977151"/>
            <a:chOff x="0" y="0"/>
            <a:chExt cx="1549142" cy="257357"/>
          </a:xfrm>
        </p:grpSpPr>
        <p:sp>
          <p:nvSpPr>
            <p:cNvPr name="Freeform 34" id="34"/>
            <p:cNvSpPr/>
            <p:nvPr/>
          </p:nvSpPr>
          <p:spPr>
            <a:xfrm flipH="false" flipV="false" rot="0">
              <a:off x="0" y="0"/>
              <a:ext cx="1549142" cy="257357"/>
            </a:xfrm>
            <a:custGeom>
              <a:avLst/>
              <a:gdLst/>
              <a:ahLst/>
              <a:cxnLst/>
              <a:rect r="r" b="b" t="t" l="l"/>
              <a:pathLst>
                <a:path h="257357" w="1549142">
                  <a:moveTo>
                    <a:pt x="67128" y="0"/>
                  </a:moveTo>
                  <a:lnTo>
                    <a:pt x="1482015" y="0"/>
                  </a:lnTo>
                  <a:cubicBezTo>
                    <a:pt x="1519088" y="0"/>
                    <a:pt x="1549142" y="30054"/>
                    <a:pt x="1549142" y="67128"/>
                  </a:cubicBezTo>
                  <a:lnTo>
                    <a:pt x="1549142" y="190229"/>
                  </a:lnTo>
                  <a:cubicBezTo>
                    <a:pt x="1549142" y="208032"/>
                    <a:pt x="1542070" y="225106"/>
                    <a:pt x="1529481" y="237695"/>
                  </a:cubicBezTo>
                  <a:cubicBezTo>
                    <a:pt x="1516892" y="250284"/>
                    <a:pt x="1499818" y="257357"/>
                    <a:pt x="1482015" y="257357"/>
                  </a:cubicBezTo>
                  <a:lnTo>
                    <a:pt x="67128" y="257357"/>
                  </a:lnTo>
                  <a:cubicBezTo>
                    <a:pt x="30054" y="257357"/>
                    <a:pt x="0" y="227303"/>
                    <a:pt x="0" y="190229"/>
                  </a:cubicBezTo>
                  <a:lnTo>
                    <a:pt x="0" y="67128"/>
                  </a:lnTo>
                  <a:cubicBezTo>
                    <a:pt x="0" y="30054"/>
                    <a:pt x="30054" y="0"/>
                    <a:pt x="67128" y="0"/>
                  </a:cubicBezTo>
                  <a:close/>
                </a:path>
              </a:pathLst>
            </a:custGeom>
            <a:solidFill>
              <a:srgbClr val="F3F6FB"/>
            </a:solidFill>
          </p:spPr>
        </p:sp>
        <p:sp>
          <p:nvSpPr>
            <p:cNvPr name="TextBox 35" id="35"/>
            <p:cNvSpPr txBox="true"/>
            <p:nvPr/>
          </p:nvSpPr>
          <p:spPr>
            <a:xfrm>
              <a:off x="0" y="-38100"/>
              <a:ext cx="1549142" cy="295457"/>
            </a:xfrm>
            <a:prstGeom prst="rect">
              <a:avLst/>
            </a:prstGeom>
          </p:spPr>
          <p:txBody>
            <a:bodyPr anchor="ctr" rtlCol="false" tIns="50800" lIns="50800" bIns="50800" rIns="50800"/>
            <a:lstStyle/>
            <a:p>
              <a:pPr algn="ctr">
                <a:lnSpc>
                  <a:spcPts val="3499"/>
                </a:lnSpc>
              </a:pPr>
            </a:p>
          </p:txBody>
        </p:sp>
      </p:grpSp>
      <p:grpSp>
        <p:nvGrpSpPr>
          <p:cNvPr name="Group 36" id="36"/>
          <p:cNvGrpSpPr/>
          <p:nvPr/>
        </p:nvGrpSpPr>
        <p:grpSpPr>
          <a:xfrm rot="0">
            <a:off x="6489521" y="9105987"/>
            <a:ext cx="4525327" cy="977151"/>
            <a:chOff x="0" y="0"/>
            <a:chExt cx="1191856" cy="257357"/>
          </a:xfrm>
        </p:grpSpPr>
        <p:sp>
          <p:nvSpPr>
            <p:cNvPr name="Freeform 37" id="37"/>
            <p:cNvSpPr/>
            <p:nvPr/>
          </p:nvSpPr>
          <p:spPr>
            <a:xfrm flipH="false" flipV="false" rot="0">
              <a:off x="0" y="0"/>
              <a:ext cx="1191856" cy="257357"/>
            </a:xfrm>
            <a:custGeom>
              <a:avLst/>
              <a:gdLst/>
              <a:ahLst/>
              <a:cxnLst/>
              <a:rect r="r" b="b" t="t" l="l"/>
              <a:pathLst>
                <a:path h="257357" w="1191856">
                  <a:moveTo>
                    <a:pt x="87251" y="0"/>
                  </a:moveTo>
                  <a:lnTo>
                    <a:pt x="1104605" y="0"/>
                  </a:lnTo>
                  <a:cubicBezTo>
                    <a:pt x="1127745" y="0"/>
                    <a:pt x="1149938" y="9192"/>
                    <a:pt x="1166301" y="25555"/>
                  </a:cubicBezTo>
                  <a:cubicBezTo>
                    <a:pt x="1182663" y="41918"/>
                    <a:pt x="1191856" y="64110"/>
                    <a:pt x="1191856" y="87251"/>
                  </a:cubicBezTo>
                  <a:lnTo>
                    <a:pt x="1191856" y="170106"/>
                  </a:lnTo>
                  <a:cubicBezTo>
                    <a:pt x="1191856" y="193246"/>
                    <a:pt x="1182663" y="215439"/>
                    <a:pt x="1166301" y="231801"/>
                  </a:cubicBezTo>
                  <a:cubicBezTo>
                    <a:pt x="1149938" y="248164"/>
                    <a:pt x="1127745" y="257357"/>
                    <a:pt x="1104605" y="257357"/>
                  </a:cubicBezTo>
                  <a:lnTo>
                    <a:pt x="87251" y="257357"/>
                  </a:lnTo>
                  <a:cubicBezTo>
                    <a:pt x="39063" y="257357"/>
                    <a:pt x="0" y="218293"/>
                    <a:pt x="0" y="170106"/>
                  </a:cubicBezTo>
                  <a:lnTo>
                    <a:pt x="0" y="87251"/>
                  </a:lnTo>
                  <a:cubicBezTo>
                    <a:pt x="0" y="64110"/>
                    <a:pt x="9192" y="41918"/>
                    <a:pt x="25555" y="25555"/>
                  </a:cubicBezTo>
                  <a:cubicBezTo>
                    <a:pt x="41918" y="9192"/>
                    <a:pt x="64110" y="0"/>
                    <a:pt x="87251" y="0"/>
                  </a:cubicBezTo>
                  <a:close/>
                </a:path>
              </a:pathLst>
            </a:custGeom>
            <a:solidFill>
              <a:srgbClr val="1F4FD8"/>
            </a:solidFill>
          </p:spPr>
        </p:sp>
        <p:sp>
          <p:nvSpPr>
            <p:cNvPr name="TextBox 38" id="38"/>
            <p:cNvSpPr txBox="true"/>
            <p:nvPr/>
          </p:nvSpPr>
          <p:spPr>
            <a:xfrm>
              <a:off x="0" y="-38100"/>
              <a:ext cx="1191856" cy="295457"/>
            </a:xfrm>
            <a:prstGeom prst="rect">
              <a:avLst/>
            </a:prstGeom>
          </p:spPr>
          <p:txBody>
            <a:bodyPr anchor="ctr" rtlCol="false" tIns="50800" lIns="50800" bIns="50800" rIns="50800"/>
            <a:lstStyle/>
            <a:p>
              <a:pPr algn="ctr">
                <a:lnSpc>
                  <a:spcPts val="3499"/>
                </a:lnSpc>
              </a:pPr>
            </a:p>
          </p:txBody>
        </p:sp>
      </p:grpSp>
      <p:sp>
        <p:nvSpPr>
          <p:cNvPr name="Freeform 39" id="39"/>
          <p:cNvSpPr/>
          <p:nvPr/>
        </p:nvSpPr>
        <p:spPr>
          <a:xfrm flipH="false" flipV="false" rot="0">
            <a:off x="11377400" y="935830"/>
            <a:ext cx="9459549" cy="5711202"/>
          </a:xfrm>
          <a:custGeom>
            <a:avLst/>
            <a:gdLst/>
            <a:ahLst/>
            <a:cxnLst/>
            <a:rect r="r" b="b" t="t" l="l"/>
            <a:pathLst>
              <a:path h="5711202" w="9459549">
                <a:moveTo>
                  <a:pt x="0" y="0"/>
                </a:moveTo>
                <a:lnTo>
                  <a:pt x="9459549" y="0"/>
                </a:lnTo>
                <a:lnTo>
                  <a:pt x="9459549" y="5711202"/>
                </a:lnTo>
                <a:lnTo>
                  <a:pt x="0" y="5711202"/>
                </a:lnTo>
                <a:lnTo>
                  <a:pt x="0" y="0"/>
                </a:lnTo>
                <a:close/>
              </a:path>
            </a:pathLst>
          </a:custGeom>
          <a:blipFill>
            <a:blip r:embed="rId7"/>
            <a:stretch>
              <a:fillRect l="0" t="0" r="0" b="0"/>
            </a:stretch>
          </a:blipFill>
        </p:spPr>
      </p:sp>
      <p:sp>
        <p:nvSpPr>
          <p:cNvPr name="TextBox 40" id="40"/>
          <p:cNvSpPr txBox="true"/>
          <p:nvPr/>
        </p:nvSpPr>
        <p:spPr>
          <a:xfrm rot="0">
            <a:off x="6702447" y="7068728"/>
            <a:ext cx="4099475" cy="514350"/>
          </a:xfrm>
          <a:prstGeom prst="rect">
            <a:avLst/>
          </a:prstGeom>
        </p:spPr>
        <p:txBody>
          <a:bodyPr anchor="t" rtlCol="false" tIns="0" lIns="0" bIns="0" rIns="0">
            <a:spAutoFit/>
          </a:bodyPr>
          <a:lstStyle/>
          <a:p>
            <a:pPr algn="ctr">
              <a:lnSpc>
                <a:spcPts val="4200"/>
              </a:lnSpc>
              <a:spcBef>
                <a:spcPct val="0"/>
              </a:spcBef>
            </a:pPr>
            <a:r>
              <a:rPr lang="en-US" b="true" sz="3000">
                <a:solidFill>
                  <a:srgbClr val="FFFFFF"/>
                </a:solidFill>
                <a:latin typeface="Inter Bold"/>
                <a:ea typeface="Inter Bold"/>
                <a:cs typeface="Inter Bold"/>
                <a:sym typeface="Inter Bold"/>
              </a:rPr>
              <a:t>g</a:t>
            </a:r>
            <a:r>
              <a:rPr lang="en-US" b="true" sz="3000">
                <a:solidFill>
                  <a:srgbClr val="FFFFFF"/>
                </a:solidFill>
                <a:latin typeface="Inter Bold"/>
                <a:ea typeface="Inter Bold"/>
                <a:cs typeface="Inter Bold"/>
                <a:sym typeface="Inter Bold"/>
              </a:rPr>
              <a:t>e</a:t>
            </a:r>
            <a:r>
              <a:rPr lang="en-US" b="true" sz="3000">
                <a:solidFill>
                  <a:srgbClr val="FFFFFF"/>
                </a:solidFill>
                <a:latin typeface="Inter Bold"/>
                <a:ea typeface="Inter Bold"/>
                <a:cs typeface="Inter Bold"/>
                <a:sym typeface="Inter Bold"/>
              </a:rPr>
              <a:t>tSymbols</a:t>
            </a:r>
          </a:p>
        </p:txBody>
      </p:sp>
      <p:sp>
        <p:nvSpPr>
          <p:cNvPr name="TextBox 41" id="41"/>
          <p:cNvSpPr txBox="true"/>
          <p:nvPr/>
        </p:nvSpPr>
        <p:spPr>
          <a:xfrm rot="0">
            <a:off x="6702447" y="8169704"/>
            <a:ext cx="4099475" cy="514350"/>
          </a:xfrm>
          <a:prstGeom prst="rect">
            <a:avLst/>
          </a:prstGeom>
        </p:spPr>
        <p:txBody>
          <a:bodyPr anchor="t" rtlCol="false" tIns="0" lIns="0" bIns="0" rIns="0">
            <a:spAutoFit/>
          </a:bodyPr>
          <a:lstStyle/>
          <a:p>
            <a:pPr algn="ctr">
              <a:lnSpc>
                <a:spcPts val="4200"/>
              </a:lnSpc>
              <a:spcBef>
                <a:spcPct val="0"/>
              </a:spcBef>
            </a:pPr>
            <a:r>
              <a:rPr lang="en-US" b="true" sz="3000">
                <a:solidFill>
                  <a:srgbClr val="FFFFFF"/>
                </a:solidFill>
                <a:latin typeface="Inter Bold"/>
                <a:ea typeface="Inter Bold"/>
                <a:cs typeface="Inter Bold"/>
                <a:sym typeface="Inter Bold"/>
              </a:rPr>
              <a:t>g</a:t>
            </a:r>
            <a:r>
              <a:rPr lang="en-US" b="true" sz="3000">
                <a:solidFill>
                  <a:srgbClr val="FFFFFF"/>
                </a:solidFill>
                <a:latin typeface="Inter Bold"/>
                <a:ea typeface="Inter Bold"/>
                <a:cs typeface="Inter Bold"/>
                <a:sym typeface="Inter Bold"/>
              </a:rPr>
              <a:t>e</a:t>
            </a:r>
            <a:r>
              <a:rPr lang="en-US" b="true" sz="3000">
                <a:solidFill>
                  <a:srgbClr val="FFFFFF"/>
                </a:solidFill>
                <a:latin typeface="Inter Bold"/>
                <a:ea typeface="Inter Bold"/>
                <a:cs typeface="Inter Bold"/>
                <a:sym typeface="Inter Bold"/>
              </a:rPr>
              <a:t>tSymbols</a:t>
            </a:r>
          </a:p>
        </p:txBody>
      </p:sp>
      <p:sp>
        <p:nvSpPr>
          <p:cNvPr name="TextBox 42" id="42"/>
          <p:cNvSpPr txBox="true"/>
          <p:nvPr/>
        </p:nvSpPr>
        <p:spPr>
          <a:xfrm rot="0">
            <a:off x="1387594" y="4071114"/>
            <a:ext cx="4099475" cy="514350"/>
          </a:xfrm>
          <a:prstGeom prst="rect">
            <a:avLst/>
          </a:prstGeom>
        </p:spPr>
        <p:txBody>
          <a:bodyPr anchor="t" rtlCol="false" tIns="0" lIns="0" bIns="0" rIns="0">
            <a:spAutoFit/>
          </a:bodyPr>
          <a:lstStyle/>
          <a:p>
            <a:pPr algn="ctr">
              <a:lnSpc>
                <a:spcPts val="4200"/>
              </a:lnSpc>
              <a:spcBef>
                <a:spcPct val="0"/>
              </a:spcBef>
            </a:pPr>
            <a:r>
              <a:rPr lang="en-US" b="true" sz="3000">
                <a:solidFill>
                  <a:srgbClr val="FFFFFF"/>
                </a:solidFill>
                <a:latin typeface="Inter Bold"/>
                <a:ea typeface="Inter Bold"/>
                <a:cs typeface="Inter Bold"/>
                <a:sym typeface="Inter Bold"/>
              </a:rPr>
              <a:t>library</a:t>
            </a:r>
          </a:p>
        </p:txBody>
      </p:sp>
      <p:sp>
        <p:nvSpPr>
          <p:cNvPr name="TextBox 43" id="43"/>
          <p:cNvSpPr txBox="true"/>
          <p:nvPr/>
        </p:nvSpPr>
        <p:spPr>
          <a:xfrm rot="0">
            <a:off x="11242687" y="7170328"/>
            <a:ext cx="4346546" cy="412750"/>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Inter"/>
                <a:ea typeface="Inter"/>
                <a:cs typeface="Inter"/>
                <a:sym typeface="Inter"/>
              </a:rPr>
              <a:t>("AAPL")</a:t>
            </a:r>
          </a:p>
        </p:txBody>
      </p:sp>
      <p:sp>
        <p:nvSpPr>
          <p:cNvPr name="TextBox 44" id="44"/>
          <p:cNvSpPr txBox="true"/>
          <p:nvPr/>
        </p:nvSpPr>
        <p:spPr>
          <a:xfrm rot="0">
            <a:off x="5487068" y="4172714"/>
            <a:ext cx="4346546" cy="850900"/>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Inter"/>
                <a:ea typeface="Inter"/>
                <a:cs typeface="Inter"/>
                <a:sym typeface="Inter"/>
              </a:rPr>
              <a:t>(Perform</a:t>
            </a:r>
            <a:r>
              <a:rPr lang="en-US" sz="2499">
                <a:solidFill>
                  <a:srgbClr val="000000"/>
                </a:solidFill>
                <a:latin typeface="Inter"/>
                <a:ea typeface="Inter"/>
                <a:cs typeface="Inter"/>
                <a:sym typeface="Inter"/>
              </a:rPr>
              <a:t>anceAnalytics)</a:t>
            </a:r>
          </a:p>
          <a:p>
            <a:pPr algn="l">
              <a:lnSpc>
                <a:spcPts val="3499"/>
              </a:lnSpc>
              <a:spcBef>
                <a:spcPct val="0"/>
              </a:spcBef>
            </a:pPr>
          </a:p>
        </p:txBody>
      </p:sp>
      <p:sp>
        <p:nvSpPr>
          <p:cNvPr name="TextBox 45" id="45"/>
          <p:cNvSpPr txBox="true"/>
          <p:nvPr/>
        </p:nvSpPr>
        <p:spPr>
          <a:xfrm rot="0">
            <a:off x="1387594" y="3123704"/>
            <a:ext cx="4099475" cy="514350"/>
          </a:xfrm>
          <a:prstGeom prst="rect">
            <a:avLst/>
          </a:prstGeom>
        </p:spPr>
        <p:txBody>
          <a:bodyPr anchor="t" rtlCol="false" tIns="0" lIns="0" bIns="0" rIns="0">
            <a:spAutoFit/>
          </a:bodyPr>
          <a:lstStyle/>
          <a:p>
            <a:pPr algn="ctr">
              <a:lnSpc>
                <a:spcPts val="4200"/>
              </a:lnSpc>
              <a:spcBef>
                <a:spcPct val="0"/>
              </a:spcBef>
            </a:pPr>
            <a:r>
              <a:rPr lang="en-US" b="true" sz="3000">
                <a:solidFill>
                  <a:srgbClr val="FFFFFF"/>
                </a:solidFill>
                <a:latin typeface="Inter Bold"/>
                <a:ea typeface="Inter Bold"/>
                <a:cs typeface="Inter Bold"/>
                <a:sym typeface="Inter Bold"/>
              </a:rPr>
              <a:t>library</a:t>
            </a:r>
          </a:p>
        </p:txBody>
      </p:sp>
      <p:sp>
        <p:nvSpPr>
          <p:cNvPr name="TextBox 46" id="46"/>
          <p:cNvSpPr txBox="true"/>
          <p:nvPr/>
        </p:nvSpPr>
        <p:spPr>
          <a:xfrm rot="0">
            <a:off x="5487068" y="3225304"/>
            <a:ext cx="4346546" cy="412750"/>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Inter"/>
                <a:ea typeface="Inter"/>
                <a:cs typeface="Inter"/>
                <a:sym typeface="Inter"/>
              </a:rPr>
              <a:t>(qu</a:t>
            </a:r>
            <a:r>
              <a:rPr lang="en-US" sz="2499">
                <a:solidFill>
                  <a:srgbClr val="000000"/>
                </a:solidFill>
                <a:latin typeface="Inter"/>
                <a:ea typeface="Inter"/>
                <a:cs typeface="Inter"/>
                <a:sym typeface="Inter"/>
              </a:rPr>
              <a:t>antmod)</a:t>
            </a:r>
          </a:p>
        </p:txBody>
      </p:sp>
      <p:sp>
        <p:nvSpPr>
          <p:cNvPr name="TextBox 47" id="47"/>
          <p:cNvSpPr txBox="true"/>
          <p:nvPr/>
        </p:nvSpPr>
        <p:spPr>
          <a:xfrm rot="0">
            <a:off x="1476984" y="5965934"/>
            <a:ext cx="4099475" cy="514350"/>
          </a:xfrm>
          <a:prstGeom prst="rect">
            <a:avLst/>
          </a:prstGeom>
        </p:spPr>
        <p:txBody>
          <a:bodyPr anchor="t" rtlCol="false" tIns="0" lIns="0" bIns="0" rIns="0">
            <a:spAutoFit/>
          </a:bodyPr>
          <a:lstStyle/>
          <a:p>
            <a:pPr algn="ctr">
              <a:lnSpc>
                <a:spcPts val="4200"/>
              </a:lnSpc>
              <a:spcBef>
                <a:spcPct val="0"/>
              </a:spcBef>
            </a:pPr>
            <a:r>
              <a:rPr lang="en-US" b="true" sz="3000">
                <a:solidFill>
                  <a:srgbClr val="FFFFFF"/>
                </a:solidFill>
                <a:latin typeface="Inter Bold"/>
                <a:ea typeface="Inter Bold"/>
                <a:cs typeface="Inter Bold"/>
                <a:sym typeface="Inter Bold"/>
              </a:rPr>
              <a:t>library</a:t>
            </a:r>
          </a:p>
        </p:txBody>
      </p:sp>
      <p:sp>
        <p:nvSpPr>
          <p:cNvPr name="TextBox 48" id="48"/>
          <p:cNvSpPr txBox="true"/>
          <p:nvPr/>
        </p:nvSpPr>
        <p:spPr>
          <a:xfrm rot="0">
            <a:off x="5576459" y="6067534"/>
            <a:ext cx="4346546" cy="412750"/>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Inter"/>
                <a:ea typeface="Inter"/>
                <a:cs typeface="Inter"/>
                <a:sym typeface="Inter"/>
              </a:rPr>
              <a:t>(ggplo</a:t>
            </a:r>
            <a:r>
              <a:rPr lang="en-US" sz="2499">
                <a:solidFill>
                  <a:srgbClr val="000000"/>
                </a:solidFill>
                <a:latin typeface="Inter"/>
                <a:ea typeface="Inter"/>
                <a:cs typeface="Inter"/>
                <a:sym typeface="Inter"/>
              </a:rPr>
              <a:t>t2)</a:t>
            </a:r>
          </a:p>
        </p:txBody>
      </p:sp>
      <p:sp>
        <p:nvSpPr>
          <p:cNvPr name="TextBox 49" id="49"/>
          <p:cNvSpPr txBox="true"/>
          <p:nvPr/>
        </p:nvSpPr>
        <p:spPr>
          <a:xfrm rot="0">
            <a:off x="1476984" y="5018524"/>
            <a:ext cx="4099475" cy="514350"/>
          </a:xfrm>
          <a:prstGeom prst="rect">
            <a:avLst/>
          </a:prstGeom>
        </p:spPr>
        <p:txBody>
          <a:bodyPr anchor="t" rtlCol="false" tIns="0" lIns="0" bIns="0" rIns="0">
            <a:spAutoFit/>
          </a:bodyPr>
          <a:lstStyle/>
          <a:p>
            <a:pPr algn="ctr">
              <a:lnSpc>
                <a:spcPts val="4200"/>
              </a:lnSpc>
              <a:spcBef>
                <a:spcPct val="0"/>
              </a:spcBef>
            </a:pPr>
            <a:r>
              <a:rPr lang="en-US" b="true" sz="3000">
                <a:solidFill>
                  <a:srgbClr val="FFFFFF"/>
                </a:solidFill>
                <a:latin typeface="Inter Bold"/>
                <a:ea typeface="Inter Bold"/>
                <a:cs typeface="Inter Bold"/>
                <a:sym typeface="Inter Bold"/>
              </a:rPr>
              <a:t>library</a:t>
            </a:r>
          </a:p>
        </p:txBody>
      </p:sp>
      <p:sp>
        <p:nvSpPr>
          <p:cNvPr name="TextBox 50" id="50"/>
          <p:cNvSpPr txBox="true"/>
          <p:nvPr/>
        </p:nvSpPr>
        <p:spPr>
          <a:xfrm rot="0">
            <a:off x="5576459" y="5120124"/>
            <a:ext cx="4346546" cy="412750"/>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Inter"/>
                <a:ea typeface="Inter"/>
                <a:cs typeface="Inter"/>
                <a:sym typeface="Inter"/>
              </a:rPr>
              <a:t>(</a:t>
            </a:r>
            <a:r>
              <a:rPr lang="en-US" sz="2499">
                <a:solidFill>
                  <a:srgbClr val="000000"/>
                </a:solidFill>
                <a:latin typeface="Inter"/>
                <a:ea typeface="Inter"/>
                <a:cs typeface="Inter"/>
                <a:sym typeface="Inter"/>
              </a:rPr>
              <a:t>dplyr)</a:t>
            </a:r>
          </a:p>
        </p:txBody>
      </p:sp>
      <p:sp>
        <p:nvSpPr>
          <p:cNvPr name="TextBox 51" id="51"/>
          <p:cNvSpPr txBox="true"/>
          <p:nvPr/>
        </p:nvSpPr>
        <p:spPr>
          <a:xfrm rot="0">
            <a:off x="6702447" y="9308780"/>
            <a:ext cx="4099475" cy="514350"/>
          </a:xfrm>
          <a:prstGeom prst="rect">
            <a:avLst/>
          </a:prstGeom>
        </p:spPr>
        <p:txBody>
          <a:bodyPr anchor="t" rtlCol="false" tIns="0" lIns="0" bIns="0" rIns="0">
            <a:spAutoFit/>
          </a:bodyPr>
          <a:lstStyle/>
          <a:p>
            <a:pPr algn="ctr">
              <a:lnSpc>
                <a:spcPts val="4200"/>
              </a:lnSpc>
              <a:spcBef>
                <a:spcPct val="0"/>
              </a:spcBef>
            </a:pPr>
            <a:r>
              <a:rPr lang="en-US" b="true" sz="3000">
                <a:solidFill>
                  <a:srgbClr val="FFFFFF"/>
                </a:solidFill>
                <a:latin typeface="Inter Bold"/>
                <a:ea typeface="Inter Bold"/>
                <a:cs typeface="Inter Bold"/>
                <a:sym typeface="Inter Bold"/>
              </a:rPr>
              <a:t>g</a:t>
            </a:r>
            <a:r>
              <a:rPr lang="en-US" b="true" sz="3000">
                <a:solidFill>
                  <a:srgbClr val="FFFFFF"/>
                </a:solidFill>
                <a:latin typeface="Inter Bold"/>
                <a:ea typeface="Inter Bold"/>
                <a:cs typeface="Inter Bold"/>
                <a:sym typeface="Inter Bold"/>
              </a:rPr>
              <a:t>e</a:t>
            </a:r>
            <a:r>
              <a:rPr lang="en-US" b="true" sz="3000">
                <a:solidFill>
                  <a:srgbClr val="FFFFFF"/>
                </a:solidFill>
                <a:latin typeface="Inter Bold"/>
                <a:ea typeface="Inter Bold"/>
                <a:cs typeface="Inter Bold"/>
                <a:sym typeface="Inter Bold"/>
              </a:rPr>
              <a:t>tSymbols</a:t>
            </a:r>
          </a:p>
        </p:txBody>
      </p:sp>
      <p:sp>
        <p:nvSpPr>
          <p:cNvPr name="TextBox 52" id="52"/>
          <p:cNvSpPr txBox="true"/>
          <p:nvPr/>
        </p:nvSpPr>
        <p:spPr>
          <a:xfrm rot="0">
            <a:off x="11242687" y="9410380"/>
            <a:ext cx="4346546" cy="412750"/>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Inter"/>
                <a:ea typeface="Inter"/>
                <a:cs typeface="Inter"/>
                <a:sym typeface="Inter"/>
              </a:rPr>
              <a:t>("AMZN")</a:t>
            </a:r>
          </a:p>
        </p:txBody>
      </p:sp>
      <p:sp>
        <p:nvSpPr>
          <p:cNvPr name="TextBox 53" id="53"/>
          <p:cNvSpPr txBox="true"/>
          <p:nvPr/>
        </p:nvSpPr>
        <p:spPr>
          <a:xfrm rot="0">
            <a:off x="13532006" y="7426754"/>
            <a:ext cx="4346546" cy="1727200"/>
          </a:xfrm>
          <a:prstGeom prst="rect">
            <a:avLst/>
          </a:prstGeom>
        </p:spPr>
        <p:txBody>
          <a:bodyPr anchor="t" rtlCol="false" tIns="0" lIns="0" bIns="0" rIns="0">
            <a:spAutoFit/>
          </a:bodyPr>
          <a:lstStyle/>
          <a:p>
            <a:pPr algn="l">
              <a:lnSpc>
                <a:spcPts val="3499"/>
              </a:lnSpc>
            </a:pPr>
            <a:r>
              <a:rPr lang="en-US" sz="2499">
                <a:solidFill>
                  <a:srgbClr val="000000"/>
                </a:solidFill>
                <a:latin typeface="Inter"/>
                <a:ea typeface="Inter"/>
                <a:cs typeface="Inter"/>
                <a:sym typeface="Inter"/>
              </a:rPr>
              <a:t>Período analizado:</a:t>
            </a:r>
          </a:p>
          <a:p>
            <a:pPr algn="l" marL="539749" indent="-269875" lvl="1">
              <a:lnSpc>
                <a:spcPts val="3499"/>
              </a:lnSpc>
              <a:spcBef>
                <a:spcPct val="0"/>
              </a:spcBef>
              <a:buFont typeface="Arial"/>
              <a:buChar char="•"/>
            </a:pPr>
            <a:r>
              <a:rPr lang="en-US" sz="2499">
                <a:solidFill>
                  <a:srgbClr val="000000"/>
                </a:solidFill>
                <a:latin typeface="Inter"/>
                <a:ea typeface="Inter"/>
                <a:cs typeface="Inter"/>
                <a:sym typeface="Inter"/>
              </a:rPr>
              <a:t>Junio </a:t>
            </a:r>
            <a:r>
              <a:rPr lang="en-US" sz="2499">
                <a:solidFill>
                  <a:srgbClr val="000000"/>
                </a:solidFill>
                <a:latin typeface="Inter"/>
                <a:ea typeface="Inter"/>
                <a:cs typeface="Inter"/>
                <a:sym typeface="Inter"/>
              </a:rPr>
              <a:t>2025 </a:t>
            </a:r>
          </a:p>
          <a:p>
            <a:pPr algn="l" marL="539749" indent="-269875" lvl="1">
              <a:lnSpc>
                <a:spcPts val="3499"/>
              </a:lnSpc>
              <a:spcBef>
                <a:spcPct val="0"/>
              </a:spcBef>
              <a:buFont typeface="Arial"/>
              <a:buChar char="•"/>
            </a:pPr>
            <a:r>
              <a:rPr lang="en-US" sz="2499">
                <a:solidFill>
                  <a:srgbClr val="000000"/>
                </a:solidFill>
                <a:latin typeface="Inter"/>
                <a:ea typeface="Inter"/>
                <a:cs typeface="Inter"/>
                <a:sym typeface="Inter"/>
              </a:rPr>
              <a:t>Junio 2026 </a:t>
            </a:r>
          </a:p>
          <a:p>
            <a:pPr algn="l">
              <a:lnSpc>
                <a:spcPts val="3499"/>
              </a:lnSpc>
              <a:spcBef>
                <a:spcPct val="0"/>
              </a:spcBef>
            </a:pPr>
          </a:p>
        </p:txBody>
      </p:sp>
      <p:sp>
        <p:nvSpPr>
          <p:cNvPr name="TextBox 54" id="54"/>
          <p:cNvSpPr txBox="true"/>
          <p:nvPr/>
        </p:nvSpPr>
        <p:spPr>
          <a:xfrm rot="0">
            <a:off x="518200" y="8743663"/>
            <a:ext cx="4346546" cy="850900"/>
          </a:xfrm>
          <a:prstGeom prst="rect">
            <a:avLst/>
          </a:prstGeom>
        </p:spPr>
        <p:txBody>
          <a:bodyPr anchor="t" rtlCol="false" tIns="0" lIns="0" bIns="0" rIns="0">
            <a:spAutoFit/>
          </a:bodyPr>
          <a:lstStyle/>
          <a:p>
            <a:pPr algn="l">
              <a:lnSpc>
                <a:spcPts val="3499"/>
              </a:lnSpc>
            </a:pPr>
            <a:r>
              <a:rPr lang="en-US" sz="2499">
                <a:solidFill>
                  <a:srgbClr val="000000"/>
                </a:solidFill>
                <a:latin typeface="Inter"/>
                <a:ea typeface="Inter"/>
                <a:cs typeface="Inter"/>
                <a:sym typeface="Inter"/>
              </a:rPr>
              <a:t>Fuente: </a:t>
            </a:r>
            <a:r>
              <a:rPr lang="en-US" sz="2499">
                <a:solidFill>
                  <a:srgbClr val="000000"/>
                </a:solidFill>
                <a:latin typeface="Inter"/>
                <a:ea typeface="Inter"/>
                <a:cs typeface="Inter"/>
                <a:sym typeface="Inter"/>
              </a:rPr>
              <a:t>Yaho</a:t>
            </a:r>
            <a:r>
              <a:rPr lang="en-US" sz="2499">
                <a:solidFill>
                  <a:srgbClr val="000000"/>
                </a:solidFill>
                <a:latin typeface="Inter"/>
                <a:ea typeface="Inter"/>
                <a:cs typeface="Inter"/>
                <a:sym typeface="Inter"/>
              </a:rPr>
              <a:t>o Finance</a:t>
            </a:r>
          </a:p>
          <a:p>
            <a:pPr algn="l">
              <a:lnSpc>
                <a:spcPts val="3499"/>
              </a:lnSpc>
              <a:spcBef>
                <a:spcPct val="0"/>
              </a:spcBef>
            </a:pPr>
          </a:p>
        </p:txBody>
      </p:sp>
      <p:sp>
        <p:nvSpPr>
          <p:cNvPr name="TextBox 55" id="55"/>
          <p:cNvSpPr txBox="true"/>
          <p:nvPr/>
        </p:nvSpPr>
        <p:spPr>
          <a:xfrm rot="0">
            <a:off x="518200" y="9223055"/>
            <a:ext cx="4346546" cy="412750"/>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Inter"/>
                <a:ea typeface="Inter"/>
                <a:cs typeface="Inter"/>
                <a:sym typeface="Inter"/>
              </a:rPr>
              <a:t>método de scraping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330277" y="3381947"/>
            <a:ext cx="5938580" cy="977151"/>
            <a:chOff x="0" y="0"/>
            <a:chExt cx="1564070" cy="257357"/>
          </a:xfrm>
        </p:grpSpPr>
        <p:sp>
          <p:nvSpPr>
            <p:cNvPr name="Freeform 3" id="3"/>
            <p:cNvSpPr/>
            <p:nvPr/>
          </p:nvSpPr>
          <p:spPr>
            <a:xfrm flipH="false" flipV="false" rot="0">
              <a:off x="0" y="0"/>
              <a:ext cx="1564070" cy="257357"/>
            </a:xfrm>
            <a:custGeom>
              <a:avLst/>
              <a:gdLst/>
              <a:ahLst/>
              <a:cxnLst/>
              <a:rect r="r" b="b" t="t" l="l"/>
              <a:pathLst>
                <a:path h="257357" w="1564070">
                  <a:moveTo>
                    <a:pt x="66487" y="0"/>
                  </a:moveTo>
                  <a:lnTo>
                    <a:pt x="1497583" y="0"/>
                  </a:lnTo>
                  <a:cubicBezTo>
                    <a:pt x="1515217" y="0"/>
                    <a:pt x="1532128" y="7005"/>
                    <a:pt x="1544597" y="19474"/>
                  </a:cubicBezTo>
                  <a:cubicBezTo>
                    <a:pt x="1557066" y="31942"/>
                    <a:pt x="1564070" y="48853"/>
                    <a:pt x="1564070" y="66487"/>
                  </a:cubicBezTo>
                  <a:lnTo>
                    <a:pt x="1564070" y="190870"/>
                  </a:lnTo>
                  <a:cubicBezTo>
                    <a:pt x="1564070" y="227589"/>
                    <a:pt x="1534303" y="257357"/>
                    <a:pt x="1497583" y="257357"/>
                  </a:cubicBezTo>
                  <a:lnTo>
                    <a:pt x="66487" y="257357"/>
                  </a:lnTo>
                  <a:cubicBezTo>
                    <a:pt x="29767" y="257357"/>
                    <a:pt x="0" y="227589"/>
                    <a:pt x="0" y="190870"/>
                  </a:cubicBezTo>
                  <a:lnTo>
                    <a:pt x="0" y="66487"/>
                  </a:lnTo>
                  <a:cubicBezTo>
                    <a:pt x="0" y="29767"/>
                    <a:pt x="29767" y="0"/>
                    <a:pt x="66487" y="0"/>
                  </a:cubicBezTo>
                  <a:close/>
                </a:path>
              </a:pathLst>
            </a:custGeom>
            <a:solidFill>
              <a:srgbClr val="1F4FD8"/>
            </a:solidFill>
          </p:spPr>
        </p:sp>
        <p:sp>
          <p:nvSpPr>
            <p:cNvPr name="TextBox 4" id="4"/>
            <p:cNvSpPr txBox="true"/>
            <p:nvPr/>
          </p:nvSpPr>
          <p:spPr>
            <a:xfrm>
              <a:off x="0" y="-38100"/>
              <a:ext cx="1564070" cy="295457"/>
            </a:xfrm>
            <a:prstGeom prst="rect">
              <a:avLst/>
            </a:prstGeom>
          </p:spPr>
          <p:txBody>
            <a:bodyPr anchor="ctr" rtlCol="false" tIns="50800" lIns="50800" bIns="50800" rIns="50800"/>
            <a:lstStyle/>
            <a:p>
              <a:pPr algn="ctr">
                <a:lnSpc>
                  <a:spcPts val="3499"/>
                </a:lnSpc>
              </a:pPr>
            </a:p>
          </p:txBody>
        </p:sp>
      </p:grpSp>
      <p:grpSp>
        <p:nvGrpSpPr>
          <p:cNvPr name="Group 5" id="5"/>
          <p:cNvGrpSpPr/>
          <p:nvPr/>
        </p:nvGrpSpPr>
        <p:grpSpPr>
          <a:xfrm rot="0">
            <a:off x="11330277" y="4606747"/>
            <a:ext cx="5938580" cy="977151"/>
            <a:chOff x="0" y="0"/>
            <a:chExt cx="1564070" cy="257357"/>
          </a:xfrm>
        </p:grpSpPr>
        <p:sp>
          <p:nvSpPr>
            <p:cNvPr name="Freeform 6" id="6"/>
            <p:cNvSpPr/>
            <p:nvPr/>
          </p:nvSpPr>
          <p:spPr>
            <a:xfrm flipH="false" flipV="false" rot="0">
              <a:off x="0" y="0"/>
              <a:ext cx="1564070" cy="257357"/>
            </a:xfrm>
            <a:custGeom>
              <a:avLst/>
              <a:gdLst/>
              <a:ahLst/>
              <a:cxnLst/>
              <a:rect r="r" b="b" t="t" l="l"/>
              <a:pathLst>
                <a:path h="257357" w="1564070">
                  <a:moveTo>
                    <a:pt x="66487" y="0"/>
                  </a:moveTo>
                  <a:lnTo>
                    <a:pt x="1497583" y="0"/>
                  </a:lnTo>
                  <a:cubicBezTo>
                    <a:pt x="1515217" y="0"/>
                    <a:pt x="1532128" y="7005"/>
                    <a:pt x="1544597" y="19474"/>
                  </a:cubicBezTo>
                  <a:cubicBezTo>
                    <a:pt x="1557066" y="31942"/>
                    <a:pt x="1564070" y="48853"/>
                    <a:pt x="1564070" y="66487"/>
                  </a:cubicBezTo>
                  <a:lnTo>
                    <a:pt x="1564070" y="190870"/>
                  </a:lnTo>
                  <a:cubicBezTo>
                    <a:pt x="1564070" y="227589"/>
                    <a:pt x="1534303" y="257357"/>
                    <a:pt x="1497583" y="257357"/>
                  </a:cubicBezTo>
                  <a:lnTo>
                    <a:pt x="66487" y="257357"/>
                  </a:lnTo>
                  <a:cubicBezTo>
                    <a:pt x="29767" y="257357"/>
                    <a:pt x="0" y="227589"/>
                    <a:pt x="0" y="190870"/>
                  </a:cubicBezTo>
                  <a:lnTo>
                    <a:pt x="0" y="66487"/>
                  </a:lnTo>
                  <a:cubicBezTo>
                    <a:pt x="0" y="29767"/>
                    <a:pt x="29767" y="0"/>
                    <a:pt x="66487" y="0"/>
                  </a:cubicBezTo>
                  <a:close/>
                </a:path>
              </a:pathLst>
            </a:custGeom>
            <a:solidFill>
              <a:srgbClr val="1F4FD8"/>
            </a:solidFill>
          </p:spPr>
        </p:sp>
        <p:sp>
          <p:nvSpPr>
            <p:cNvPr name="TextBox 7" id="7"/>
            <p:cNvSpPr txBox="true"/>
            <p:nvPr/>
          </p:nvSpPr>
          <p:spPr>
            <a:xfrm>
              <a:off x="0" y="-38100"/>
              <a:ext cx="1564070" cy="295457"/>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11330277" y="8281149"/>
            <a:ext cx="5938580" cy="977151"/>
            <a:chOff x="0" y="0"/>
            <a:chExt cx="1564070" cy="257357"/>
          </a:xfrm>
        </p:grpSpPr>
        <p:sp>
          <p:nvSpPr>
            <p:cNvPr name="Freeform 9" id="9"/>
            <p:cNvSpPr/>
            <p:nvPr/>
          </p:nvSpPr>
          <p:spPr>
            <a:xfrm flipH="false" flipV="false" rot="0">
              <a:off x="0" y="0"/>
              <a:ext cx="1564070" cy="257357"/>
            </a:xfrm>
            <a:custGeom>
              <a:avLst/>
              <a:gdLst/>
              <a:ahLst/>
              <a:cxnLst/>
              <a:rect r="r" b="b" t="t" l="l"/>
              <a:pathLst>
                <a:path h="257357" w="1564070">
                  <a:moveTo>
                    <a:pt x="66487" y="0"/>
                  </a:moveTo>
                  <a:lnTo>
                    <a:pt x="1497583" y="0"/>
                  </a:lnTo>
                  <a:cubicBezTo>
                    <a:pt x="1515217" y="0"/>
                    <a:pt x="1532128" y="7005"/>
                    <a:pt x="1544597" y="19474"/>
                  </a:cubicBezTo>
                  <a:cubicBezTo>
                    <a:pt x="1557066" y="31942"/>
                    <a:pt x="1564070" y="48853"/>
                    <a:pt x="1564070" y="66487"/>
                  </a:cubicBezTo>
                  <a:lnTo>
                    <a:pt x="1564070" y="190870"/>
                  </a:lnTo>
                  <a:cubicBezTo>
                    <a:pt x="1564070" y="227589"/>
                    <a:pt x="1534303" y="257357"/>
                    <a:pt x="1497583" y="257357"/>
                  </a:cubicBezTo>
                  <a:lnTo>
                    <a:pt x="66487" y="257357"/>
                  </a:lnTo>
                  <a:cubicBezTo>
                    <a:pt x="29767" y="257357"/>
                    <a:pt x="0" y="227589"/>
                    <a:pt x="0" y="190870"/>
                  </a:cubicBezTo>
                  <a:lnTo>
                    <a:pt x="0" y="66487"/>
                  </a:lnTo>
                  <a:cubicBezTo>
                    <a:pt x="0" y="29767"/>
                    <a:pt x="29767" y="0"/>
                    <a:pt x="66487" y="0"/>
                  </a:cubicBezTo>
                  <a:close/>
                </a:path>
              </a:pathLst>
            </a:custGeom>
            <a:solidFill>
              <a:srgbClr val="1F4FD8"/>
            </a:solidFill>
          </p:spPr>
        </p:sp>
        <p:sp>
          <p:nvSpPr>
            <p:cNvPr name="TextBox 10" id="10"/>
            <p:cNvSpPr txBox="true"/>
            <p:nvPr/>
          </p:nvSpPr>
          <p:spPr>
            <a:xfrm>
              <a:off x="0" y="-38100"/>
              <a:ext cx="1564070" cy="295457"/>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11330277" y="5831548"/>
            <a:ext cx="5938580" cy="977151"/>
            <a:chOff x="0" y="0"/>
            <a:chExt cx="1564070" cy="257357"/>
          </a:xfrm>
        </p:grpSpPr>
        <p:sp>
          <p:nvSpPr>
            <p:cNvPr name="Freeform 12" id="12"/>
            <p:cNvSpPr/>
            <p:nvPr/>
          </p:nvSpPr>
          <p:spPr>
            <a:xfrm flipH="false" flipV="false" rot="0">
              <a:off x="0" y="0"/>
              <a:ext cx="1564070" cy="257357"/>
            </a:xfrm>
            <a:custGeom>
              <a:avLst/>
              <a:gdLst/>
              <a:ahLst/>
              <a:cxnLst/>
              <a:rect r="r" b="b" t="t" l="l"/>
              <a:pathLst>
                <a:path h="257357" w="1564070">
                  <a:moveTo>
                    <a:pt x="66487" y="0"/>
                  </a:moveTo>
                  <a:lnTo>
                    <a:pt x="1497583" y="0"/>
                  </a:lnTo>
                  <a:cubicBezTo>
                    <a:pt x="1515217" y="0"/>
                    <a:pt x="1532128" y="7005"/>
                    <a:pt x="1544597" y="19474"/>
                  </a:cubicBezTo>
                  <a:cubicBezTo>
                    <a:pt x="1557066" y="31942"/>
                    <a:pt x="1564070" y="48853"/>
                    <a:pt x="1564070" y="66487"/>
                  </a:cubicBezTo>
                  <a:lnTo>
                    <a:pt x="1564070" y="190870"/>
                  </a:lnTo>
                  <a:cubicBezTo>
                    <a:pt x="1564070" y="227589"/>
                    <a:pt x="1534303" y="257357"/>
                    <a:pt x="1497583" y="257357"/>
                  </a:cubicBezTo>
                  <a:lnTo>
                    <a:pt x="66487" y="257357"/>
                  </a:lnTo>
                  <a:cubicBezTo>
                    <a:pt x="29767" y="257357"/>
                    <a:pt x="0" y="227589"/>
                    <a:pt x="0" y="190870"/>
                  </a:cubicBezTo>
                  <a:lnTo>
                    <a:pt x="0" y="66487"/>
                  </a:lnTo>
                  <a:cubicBezTo>
                    <a:pt x="0" y="29767"/>
                    <a:pt x="29767" y="0"/>
                    <a:pt x="66487" y="0"/>
                  </a:cubicBezTo>
                  <a:close/>
                </a:path>
              </a:pathLst>
            </a:custGeom>
            <a:solidFill>
              <a:srgbClr val="1F4FD8"/>
            </a:solidFill>
          </p:spPr>
        </p:sp>
        <p:sp>
          <p:nvSpPr>
            <p:cNvPr name="TextBox 13" id="13"/>
            <p:cNvSpPr txBox="true"/>
            <p:nvPr/>
          </p:nvSpPr>
          <p:spPr>
            <a:xfrm>
              <a:off x="0" y="-38100"/>
              <a:ext cx="1564070" cy="295457"/>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11330277" y="7056349"/>
            <a:ext cx="5938580" cy="977151"/>
            <a:chOff x="0" y="0"/>
            <a:chExt cx="1564070" cy="257357"/>
          </a:xfrm>
        </p:grpSpPr>
        <p:sp>
          <p:nvSpPr>
            <p:cNvPr name="Freeform 15" id="15"/>
            <p:cNvSpPr/>
            <p:nvPr/>
          </p:nvSpPr>
          <p:spPr>
            <a:xfrm flipH="false" flipV="false" rot="0">
              <a:off x="0" y="0"/>
              <a:ext cx="1564070" cy="257357"/>
            </a:xfrm>
            <a:custGeom>
              <a:avLst/>
              <a:gdLst/>
              <a:ahLst/>
              <a:cxnLst/>
              <a:rect r="r" b="b" t="t" l="l"/>
              <a:pathLst>
                <a:path h="257357" w="1564070">
                  <a:moveTo>
                    <a:pt x="66487" y="0"/>
                  </a:moveTo>
                  <a:lnTo>
                    <a:pt x="1497583" y="0"/>
                  </a:lnTo>
                  <a:cubicBezTo>
                    <a:pt x="1515217" y="0"/>
                    <a:pt x="1532128" y="7005"/>
                    <a:pt x="1544597" y="19474"/>
                  </a:cubicBezTo>
                  <a:cubicBezTo>
                    <a:pt x="1557066" y="31942"/>
                    <a:pt x="1564070" y="48853"/>
                    <a:pt x="1564070" y="66487"/>
                  </a:cubicBezTo>
                  <a:lnTo>
                    <a:pt x="1564070" y="190870"/>
                  </a:lnTo>
                  <a:cubicBezTo>
                    <a:pt x="1564070" y="227589"/>
                    <a:pt x="1534303" y="257357"/>
                    <a:pt x="1497583" y="257357"/>
                  </a:cubicBezTo>
                  <a:lnTo>
                    <a:pt x="66487" y="257357"/>
                  </a:lnTo>
                  <a:cubicBezTo>
                    <a:pt x="29767" y="257357"/>
                    <a:pt x="0" y="227589"/>
                    <a:pt x="0" y="190870"/>
                  </a:cubicBezTo>
                  <a:lnTo>
                    <a:pt x="0" y="66487"/>
                  </a:lnTo>
                  <a:cubicBezTo>
                    <a:pt x="0" y="29767"/>
                    <a:pt x="29767" y="0"/>
                    <a:pt x="66487" y="0"/>
                  </a:cubicBezTo>
                  <a:close/>
                </a:path>
              </a:pathLst>
            </a:custGeom>
            <a:solidFill>
              <a:srgbClr val="1F4FD8"/>
            </a:solidFill>
          </p:spPr>
        </p:sp>
        <p:sp>
          <p:nvSpPr>
            <p:cNvPr name="TextBox 16" id="16"/>
            <p:cNvSpPr txBox="true"/>
            <p:nvPr/>
          </p:nvSpPr>
          <p:spPr>
            <a:xfrm>
              <a:off x="0" y="-38100"/>
              <a:ext cx="1564070" cy="295457"/>
            </a:xfrm>
            <a:prstGeom prst="rect">
              <a:avLst/>
            </a:prstGeom>
          </p:spPr>
          <p:txBody>
            <a:bodyPr anchor="ctr" rtlCol="false" tIns="50800" lIns="50800" bIns="50800" rIns="50800"/>
            <a:lstStyle/>
            <a:p>
              <a:pPr algn="ctr">
                <a:lnSpc>
                  <a:spcPts val="3499"/>
                </a:lnSpc>
              </a:pPr>
            </a:p>
          </p:txBody>
        </p:sp>
      </p:grpSp>
      <p:grpSp>
        <p:nvGrpSpPr>
          <p:cNvPr name="Group 17" id="17"/>
          <p:cNvGrpSpPr/>
          <p:nvPr/>
        </p:nvGrpSpPr>
        <p:grpSpPr>
          <a:xfrm rot="0">
            <a:off x="10272745" y="3473060"/>
            <a:ext cx="794924" cy="794924"/>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D4BF"/>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3499"/>
                </a:lnSpc>
              </a:pPr>
            </a:p>
          </p:txBody>
        </p:sp>
      </p:grpSp>
      <p:grpSp>
        <p:nvGrpSpPr>
          <p:cNvPr name="Group 20" id="20"/>
          <p:cNvGrpSpPr/>
          <p:nvPr/>
        </p:nvGrpSpPr>
        <p:grpSpPr>
          <a:xfrm rot="0">
            <a:off x="10272745" y="4697861"/>
            <a:ext cx="794924" cy="794924"/>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D4BF"/>
            </a:solidFill>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a:lnSpc>
                  <a:spcPts val="3499"/>
                </a:lnSpc>
              </a:pPr>
            </a:p>
          </p:txBody>
        </p:sp>
      </p:grpSp>
      <p:grpSp>
        <p:nvGrpSpPr>
          <p:cNvPr name="Group 23" id="23"/>
          <p:cNvGrpSpPr/>
          <p:nvPr/>
        </p:nvGrpSpPr>
        <p:grpSpPr>
          <a:xfrm rot="0">
            <a:off x="10272745" y="5929419"/>
            <a:ext cx="794924" cy="794924"/>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D4BF"/>
            </a:solidFill>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a:lnSpc>
                  <a:spcPts val="3499"/>
                </a:lnSpc>
              </a:pPr>
            </a:p>
          </p:txBody>
        </p:sp>
      </p:grpSp>
      <p:grpSp>
        <p:nvGrpSpPr>
          <p:cNvPr name="Group 26" id="26"/>
          <p:cNvGrpSpPr/>
          <p:nvPr/>
        </p:nvGrpSpPr>
        <p:grpSpPr>
          <a:xfrm rot="0">
            <a:off x="10272745" y="7154220"/>
            <a:ext cx="794924" cy="794924"/>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D4BF"/>
            </a:solidFill>
          </p:spPr>
        </p:sp>
        <p:sp>
          <p:nvSpPr>
            <p:cNvPr name="TextBox 28" id="28"/>
            <p:cNvSpPr txBox="true"/>
            <p:nvPr/>
          </p:nvSpPr>
          <p:spPr>
            <a:xfrm>
              <a:off x="76200" y="38100"/>
              <a:ext cx="660400" cy="698500"/>
            </a:xfrm>
            <a:prstGeom prst="rect">
              <a:avLst/>
            </a:prstGeom>
          </p:spPr>
          <p:txBody>
            <a:bodyPr anchor="ctr" rtlCol="false" tIns="50800" lIns="50800" bIns="50800" rIns="50800"/>
            <a:lstStyle/>
            <a:p>
              <a:pPr algn="ctr">
                <a:lnSpc>
                  <a:spcPts val="3499"/>
                </a:lnSpc>
              </a:pPr>
            </a:p>
          </p:txBody>
        </p:sp>
      </p:grpSp>
      <p:grpSp>
        <p:nvGrpSpPr>
          <p:cNvPr name="Group 29" id="29"/>
          <p:cNvGrpSpPr/>
          <p:nvPr/>
        </p:nvGrpSpPr>
        <p:grpSpPr>
          <a:xfrm rot="0">
            <a:off x="10272745" y="8372263"/>
            <a:ext cx="794924" cy="794924"/>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D4BF"/>
            </a:solidFill>
          </p:spPr>
        </p:sp>
        <p:sp>
          <p:nvSpPr>
            <p:cNvPr name="TextBox 31" id="31"/>
            <p:cNvSpPr txBox="true"/>
            <p:nvPr/>
          </p:nvSpPr>
          <p:spPr>
            <a:xfrm>
              <a:off x="76200" y="38100"/>
              <a:ext cx="660400" cy="698500"/>
            </a:xfrm>
            <a:prstGeom prst="rect">
              <a:avLst/>
            </a:prstGeom>
          </p:spPr>
          <p:txBody>
            <a:bodyPr anchor="ctr" rtlCol="false" tIns="50800" lIns="50800" bIns="50800" rIns="50800"/>
            <a:lstStyle/>
            <a:p>
              <a:pPr algn="ctr">
                <a:lnSpc>
                  <a:spcPts val="3499"/>
                </a:lnSpc>
              </a:pPr>
            </a:p>
          </p:txBody>
        </p:sp>
      </p:grpSp>
      <p:sp>
        <p:nvSpPr>
          <p:cNvPr name="Freeform 32" id="32"/>
          <p:cNvSpPr/>
          <p:nvPr/>
        </p:nvSpPr>
        <p:spPr>
          <a:xfrm flipH="false" flipV="false" rot="0">
            <a:off x="9287323" y="591755"/>
            <a:ext cx="1116395" cy="1116395"/>
          </a:xfrm>
          <a:custGeom>
            <a:avLst/>
            <a:gdLst/>
            <a:ahLst/>
            <a:cxnLst/>
            <a:rect r="r" b="b" t="t" l="l"/>
            <a:pathLst>
              <a:path h="1116395" w="1116395">
                <a:moveTo>
                  <a:pt x="0" y="0"/>
                </a:moveTo>
                <a:lnTo>
                  <a:pt x="1116396" y="0"/>
                </a:lnTo>
                <a:lnTo>
                  <a:pt x="1116396" y="1116395"/>
                </a:lnTo>
                <a:lnTo>
                  <a:pt x="0" y="11163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3" id="33"/>
          <p:cNvSpPr/>
          <p:nvPr/>
        </p:nvSpPr>
        <p:spPr>
          <a:xfrm flipH="false" flipV="false" rot="0">
            <a:off x="885976" y="7256260"/>
            <a:ext cx="9120069" cy="2626062"/>
          </a:xfrm>
          <a:custGeom>
            <a:avLst/>
            <a:gdLst/>
            <a:ahLst/>
            <a:cxnLst/>
            <a:rect r="r" b="b" t="t" l="l"/>
            <a:pathLst>
              <a:path h="2626062" w="9120069">
                <a:moveTo>
                  <a:pt x="0" y="0"/>
                </a:moveTo>
                <a:lnTo>
                  <a:pt x="9120069" y="0"/>
                </a:lnTo>
                <a:lnTo>
                  <a:pt x="9120069" y="2626062"/>
                </a:lnTo>
                <a:lnTo>
                  <a:pt x="0" y="2626062"/>
                </a:lnTo>
                <a:lnTo>
                  <a:pt x="0" y="0"/>
                </a:lnTo>
                <a:close/>
              </a:path>
            </a:pathLst>
          </a:custGeom>
          <a:blipFill>
            <a:blip r:embed="rId4"/>
            <a:stretch>
              <a:fillRect l="0" t="0" r="0" b="0"/>
            </a:stretch>
          </a:blipFill>
        </p:spPr>
      </p:sp>
      <p:sp>
        <p:nvSpPr>
          <p:cNvPr name="TextBox 34" id="34"/>
          <p:cNvSpPr txBox="true"/>
          <p:nvPr/>
        </p:nvSpPr>
        <p:spPr>
          <a:xfrm rot="0">
            <a:off x="1181100" y="699804"/>
            <a:ext cx="7534275" cy="887094"/>
          </a:xfrm>
          <a:prstGeom prst="rect">
            <a:avLst/>
          </a:prstGeom>
        </p:spPr>
        <p:txBody>
          <a:bodyPr anchor="t" rtlCol="false" tIns="0" lIns="0" bIns="0" rIns="0">
            <a:spAutoFit/>
          </a:bodyPr>
          <a:lstStyle/>
          <a:p>
            <a:pPr algn="l">
              <a:lnSpc>
                <a:spcPts val="7280"/>
              </a:lnSpc>
            </a:pPr>
            <a:r>
              <a:rPr lang="en-US" sz="5200" b="true">
                <a:solidFill>
                  <a:srgbClr val="1F4FD8"/>
                </a:solidFill>
                <a:latin typeface="Inter Bold"/>
                <a:ea typeface="Inter Bold"/>
                <a:cs typeface="Inter Bold"/>
                <a:sym typeface="Inter Bold"/>
              </a:rPr>
              <a:t>LIMPIEZA Y </a:t>
            </a:r>
          </a:p>
        </p:txBody>
      </p:sp>
      <p:sp>
        <p:nvSpPr>
          <p:cNvPr name="TextBox 35" id="35"/>
          <p:cNvSpPr txBox="true"/>
          <p:nvPr/>
        </p:nvSpPr>
        <p:spPr>
          <a:xfrm rot="0">
            <a:off x="1114807" y="1689378"/>
            <a:ext cx="9222619" cy="821054"/>
          </a:xfrm>
          <a:prstGeom prst="rect">
            <a:avLst/>
          </a:prstGeom>
        </p:spPr>
        <p:txBody>
          <a:bodyPr anchor="t" rtlCol="false" tIns="0" lIns="0" bIns="0" rIns="0">
            <a:spAutoFit/>
          </a:bodyPr>
          <a:lstStyle/>
          <a:p>
            <a:pPr algn="l">
              <a:lnSpc>
                <a:spcPts val="6720"/>
              </a:lnSpc>
            </a:pPr>
            <a:r>
              <a:rPr lang="en-US" b="true" sz="4800">
                <a:solidFill>
                  <a:srgbClr val="3B82F6"/>
                </a:solidFill>
                <a:latin typeface="Inter Bold"/>
                <a:ea typeface="Inter Bold"/>
                <a:cs typeface="Inter Bold"/>
                <a:sym typeface="Inter Bold"/>
              </a:rPr>
              <a:t> VERIFICACIÓN DE LOS DATOS</a:t>
            </a:r>
          </a:p>
        </p:txBody>
      </p:sp>
      <p:sp>
        <p:nvSpPr>
          <p:cNvPr name="TextBox 36" id="36"/>
          <p:cNvSpPr txBox="true"/>
          <p:nvPr/>
        </p:nvSpPr>
        <p:spPr>
          <a:xfrm rot="0">
            <a:off x="11756129" y="3603789"/>
            <a:ext cx="5225848" cy="372744"/>
          </a:xfrm>
          <a:prstGeom prst="rect">
            <a:avLst/>
          </a:prstGeom>
        </p:spPr>
        <p:txBody>
          <a:bodyPr anchor="t" rtlCol="false" tIns="0" lIns="0" bIns="0" rIns="0">
            <a:spAutoFit/>
          </a:bodyPr>
          <a:lstStyle/>
          <a:p>
            <a:pPr algn="l">
              <a:lnSpc>
                <a:spcPts val="3080"/>
              </a:lnSpc>
              <a:spcBef>
                <a:spcPct val="0"/>
              </a:spcBef>
            </a:pPr>
            <a:r>
              <a:rPr lang="en-US" b="true" sz="2200">
                <a:solidFill>
                  <a:srgbClr val="FFFFFF"/>
                </a:solidFill>
                <a:latin typeface="Inter Bold"/>
                <a:ea typeface="Inter Bold"/>
                <a:cs typeface="Inter Bold"/>
                <a:sym typeface="Inter Bold"/>
              </a:rPr>
              <a:t>Verificación de valor</a:t>
            </a:r>
            <a:r>
              <a:rPr lang="en-US" b="true" sz="2200">
                <a:solidFill>
                  <a:srgbClr val="FFFFFF"/>
                </a:solidFill>
                <a:latin typeface="Inter Bold"/>
                <a:ea typeface="Inter Bold"/>
                <a:cs typeface="Inter Bold"/>
                <a:sym typeface="Inter Bold"/>
              </a:rPr>
              <a:t>es fal</a:t>
            </a:r>
            <a:r>
              <a:rPr lang="en-US" b="true" sz="2200">
                <a:solidFill>
                  <a:srgbClr val="FFFFFF"/>
                </a:solidFill>
                <a:latin typeface="Inter Bold"/>
                <a:ea typeface="Inter Bold"/>
                <a:cs typeface="Inter Bold"/>
                <a:sym typeface="Inter Bold"/>
              </a:rPr>
              <a:t>tantes (NA).</a:t>
            </a:r>
          </a:p>
        </p:txBody>
      </p:sp>
      <p:sp>
        <p:nvSpPr>
          <p:cNvPr name="TextBox 37" id="37"/>
          <p:cNvSpPr txBox="true"/>
          <p:nvPr/>
        </p:nvSpPr>
        <p:spPr>
          <a:xfrm rot="0">
            <a:off x="11756129" y="4821832"/>
            <a:ext cx="5369681" cy="438785"/>
          </a:xfrm>
          <a:prstGeom prst="rect">
            <a:avLst/>
          </a:prstGeom>
        </p:spPr>
        <p:txBody>
          <a:bodyPr anchor="t" rtlCol="false" tIns="0" lIns="0" bIns="0" rIns="0">
            <a:spAutoFit/>
          </a:bodyPr>
          <a:lstStyle/>
          <a:p>
            <a:pPr algn="l">
              <a:lnSpc>
                <a:spcPts val="3640"/>
              </a:lnSpc>
              <a:spcBef>
                <a:spcPct val="0"/>
              </a:spcBef>
            </a:pPr>
            <a:r>
              <a:rPr lang="en-US" b="true" sz="2600">
                <a:solidFill>
                  <a:srgbClr val="FFFFFF"/>
                </a:solidFill>
                <a:latin typeface="Inter Bold"/>
                <a:ea typeface="Inter Bold"/>
                <a:cs typeface="Inter Bold"/>
                <a:sym typeface="Inter Bold"/>
              </a:rPr>
              <a:t>R</a:t>
            </a:r>
            <a:r>
              <a:rPr lang="en-US" b="true" sz="2600">
                <a:solidFill>
                  <a:srgbClr val="FFFFFF"/>
                </a:solidFill>
                <a:latin typeface="Inter Bold"/>
                <a:ea typeface="Inter Bold"/>
                <a:cs typeface="Inter Bold"/>
                <a:sym typeface="Inter Bold"/>
              </a:rPr>
              <a:t>evisión de registros duplicad</a:t>
            </a:r>
            <a:r>
              <a:rPr lang="en-US" b="true" sz="2600">
                <a:solidFill>
                  <a:srgbClr val="FFFFFF"/>
                </a:solidFill>
                <a:latin typeface="Inter Bold"/>
                <a:ea typeface="Inter Bold"/>
                <a:cs typeface="Inter Bold"/>
                <a:sym typeface="Inter Bold"/>
              </a:rPr>
              <a:t>os</a:t>
            </a:r>
          </a:p>
        </p:txBody>
      </p:sp>
      <p:sp>
        <p:nvSpPr>
          <p:cNvPr name="TextBox 38" id="38"/>
          <p:cNvSpPr txBox="true"/>
          <p:nvPr/>
        </p:nvSpPr>
        <p:spPr>
          <a:xfrm rot="0">
            <a:off x="11756129" y="8324638"/>
            <a:ext cx="5369681" cy="824865"/>
          </a:xfrm>
          <a:prstGeom prst="rect">
            <a:avLst/>
          </a:prstGeom>
        </p:spPr>
        <p:txBody>
          <a:bodyPr anchor="t" rtlCol="false" tIns="0" lIns="0" bIns="0" rIns="0">
            <a:spAutoFit/>
          </a:bodyPr>
          <a:lstStyle/>
          <a:p>
            <a:pPr algn="l">
              <a:lnSpc>
                <a:spcPts val="3360"/>
              </a:lnSpc>
              <a:spcBef>
                <a:spcPct val="0"/>
              </a:spcBef>
            </a:pPr>
            <a:r>
              <a:rPr lang="en-US" b="true" sz="2400">
                <a:solidFill>
                  <a:srgbClr val="FFFFFF"/>
                </a:solidFill>
                <a:latin typeface="Inter Bold"/>
                <a:ea typeface="Inter Bold"/>
                <a:cs typeface="Inter Bold"/>
                <a:sym typeface="Inter Bold"/>
              </a:rPr>
              <a:t>Confirm</a:t>
            </a:r>
            <a:r>
              <a:rPr lang="en-US" b="true" sz="2400">
                <a:solidFill>
                  <a:srgbClr val="FFFFFF"/>
                </a:solidFill>
                <a:latin typeface="Inter Bold"/>
                <a:ea typeface="Inter Bold"/>
                <a:cs typeface="Inter Bold"/>
                <a:sym typeface="Inter Bold"/>
              </a:rPr>
              <a:t>ación de consis</a:t>
            </a:r>
            <a:r>
              <a:rPr lang="en-US" b="true" sz="2400">
                <a:solidFill>
                  <a:srgbClr val="FFFFFF"/>
                </a:solidFill>
                <a:latin typeface="Inter Bold"/>
                <a:ea typeface="Inter Bold"/>
                <a:cs typeface="Inter Bold"/>
                <a:sym typeface="Inter Bold"/>
              </a:rPr>
              <a:t>tencia antes del análisis estadístico.</a:t>
            </a:r>
          </a:p>
        </p:txBody>
      </p:sp>
      <p:sp>
        <p:nvSpPr>
          <p:cNvPr name="TextBox 39" id="39"/>
          <p:cNvSpPr txBox="true"/>
          <p:nvPr/>
        </p:nvSpPr>
        <p:spPr>
          <a:xfrm rot="0">
            <a:off x="11756129" y="6050623"/>
            <a:ext cx="5072873" cy="438785"/>
          </a:xfrm>
          <a:prstGeom prst="rect">
            <a:avLst/>
          </a:prstGeom>
        </p:spPr>
        <p:txBody>
          <a:bodyPr anchor="t" rtlCol="false" tIns="0" lIns="0" bIns="0" rIns="0">
            <a:spAutoFit/>
          </a:bodyPr>
          <a:lstStyle/>
          <a:p>
            <a:pPr algn="l">
              <a:lnSpc>
                <a:spcPts val="3640"/>
              </a:lnSpc>
              <a:spcBef>
                <a:spcPct val="0"/>
              </a:spcBef>
            </a:pPr>
            <a:r>
              <a:rPr lang="en-US" b="true" sz="2600">
                <a:solidFill>
                  <a:srgbClr val="FFFFFF"/>
                </a:solidFill>
                <a:latin typeface="Inter Bold"/>
                <a:ea typeface="Inter Bold"/>
                <a:cs typeface="Inter Bold"/>
                <a:sym typeface="Inter Bold"/>
              </a:rPr>
              <a:t>Validación de tipos de d</a:t>
            </a:r>
            <a:r>
              <a:rPr lang="en-US" b="true" sz="2600">
                <a:solidFill>
                  <a:srgbClr val="FFFFFF"/>
                </a:solidFill>
                <a:latin typeface="Inter Bold"/>
                <a:ea typeface="Inter Bold"/>
                <a:cs typeface="Inter Bold"/>
                <a:sym typeface="Inter Bold"/>
              </a:rPr>
              <a:t>a</a:t>
            </a:r>
            <a:r>
              <a:rPr lang="en-US" b="true" sz="2600">
                <a:solidFill>
                  <a:srgbClr val="FFFFFF"/>
                </a:solidFill>
                <a:latin typeface="Inter Bold"/>
                <a:ea typeface="Inter Bold"/>
                <a:cs typeface="Inter Bold"/>
                <a:sym typeface="Inter Bold"/>
              </a:rPr>
              <a:t>tos.</a:t>
            </a:r>
          </a:p>
        </p:txBody>
      </p:sp>
      <p:sp>
        <p:nvSpPr>
          <p:cNvPr name="TextBox 40" id="40"/>
          <p:cNvSpPr txBox="true"/>
          <p:nvPr/>
        </p:nvSpPr>
        <p:spPr>
          <a:xfrm rot="0">
            <a:off x="11832617" y="7208635"/>
            <a:ext cx="5072873" cy="824865"/>
          </a:xfrm>
          <a:prstGeom prst="rect">
            <a:avLst/>
          </a:prstGeom>
        </p:spPr>
        <p:txBody>
          <a:bodyPr anchor="t" rtlCol="false" tIns="0" lIns="0" bIns="0" rIns="0">
            <a:spAutoFit/>
          </a:bodyPr>
          <a:lstStyle/>
          <a:p>
            <a:pPr algn="l">
              <a:lnSpc>
                <a:spcPts val="3360"/>
              </a:lnSpc>
              <a:spcBef>
                <a:spcPct val="0"/>
              </a:spcBef>
            </a:pPr>
            <a:r>
              <a:rPr lang="en-US" b="true" sz="2400">
                <a:solidFill>
                  <a:srgbClr val="FFFFFF"/>
                </a:solidFill>
                <a:latin typeface="Inter Bold"/>
                <a:ea typeface="Inter Bold"/>
                <a:cs typeface="Inter Bold"/>
                <a:sym typeface="Inter Bold"/>
              </a:rPr>
              <a:t>Eliminación de observaciones </a:t>
            </a:r>
            <a:r>
              <a:rPr lang="en-US" b="true" sz="2400">
                <a:solidFill>
                  <a:srgbClr val="FFFFFF"/>
                </a:solidFill>
                <a:latin typeface="Inter Bold"/>
                <a:ea typeface="Inter Bold"/>
                <a:cs typeface="Inter Bold"/>
                <a:sym typeface="Inter Bold"/>
              </a:rPr>
              <a:t>incompletas.</a:t>
            </a:r>
          </a:p>
        </p:txBody>
      </p:sp>
      <p:sp>
        <p:nvSpPr>
          <p:cNvPr name="TextBox 41" id="41"/>
          <p:cNvSpPr txBox="true"/>
          <p:nvPr/>
        </p:nvSpPr>
        <p:spPr>
          <a:xfrm rot="0">
            <a:off x="10337425" y="3492730"/>
            <a:ext cx="665562" cy="679384"/>
          </a:xfrm>
          <a:prstGeom prst="rect">
            <a:avLst/>
          </a:prstGeom>
        </p:spPr>
        <p:txBody>
          <a:bodyPr anchor="t" rtlCol="false" tIns="0" lIns="0" bIns="0" rIns="0">
            <a:spAutoFit/>
          </a:bodyPr>
          <a:lstStyle/>
          <a:p>
            <a:pPr algn="ctr">
              <a:lnSpc>
                <a:spcPts val="5599"/>
              </a:lnSpc>
            </a:pPr>
            <a:r>
              <a:rPr lang="en-US" b="true" sz="3999">
                <a:solidFill>
                  <a:srgbClr val="F3F6FB"/>
                </a:solidFill>
                <a:latin typeface="Inter Bold"/>
                <a:ea typeface="Inter Bold"/>
                <a:cs typeface="Inter Bold"/>
                <a:sym typeface="Inter Bold"/>
              </a:rPr>
              <a:t>1</a:t>
            </a:r>
          </a:p>
        </p:txBody>
      </p:sp>
      <p:sp>
        <p:nvSpPr>
          <p:cNvPr name="TextBox 42" id="42"/>
          <p:cNvSpPr txBox="true"/>
          <p:nvPr/>
        </p:nvSpPr>
        <p:spPr>
          <a:xfrm rot="0">
            <a:off x="10337425" y="4717531"/>
            <a:ext cx="665562" cy="679384"/>
          </a:xfrm>
          <a:prstGeom prst="rect">
            <a:avLst/>
          </a:prstGeom>
        </p:spPr>
        <p:txBody>
          <a:bodyPr anchor="t" rtlCol="false" tIns="0" lIns="0" bIns="0" rIns="0">
            <a:spAutoFit/>
          </a:bodyPr>
          <a:lstStyle/>
          <a:p>
            <a:pPr algn="ctr">
              <a:lnSpc>
                <a:spcPts val="5599"/>
              </a:lnSpc>
            </a:pPr>
            <a:r>
              <a:rPr lang="en-US" b="true" sz="3999">
                <a:solidFill>
                  <a:srgbClr val="F3F6FB"/>
                </a:solidFill>
                <a:latin typeface="Inter Bold"/>
                <a:ea typeface="Inter Bold"/>
                <a:cs typeface="Inter Bold"/>
                <a:sym typeface="Inter Bold"/>
              </a:rPr>
              <a:t>2</a:t>
            </a:r>
          </a:p>
        </p:txBody>
      </p:sp>
      <p:sp>
        <p:nvSpPr>
          <p:cNvPr name="TextBox 43" id="43"/>
          <p:cNvSpPr txBox="true"/>
          <p:nvPr/>
        </p:nvSpPr>
        <p:spPr>
          <a:xfrm rot="0">
            <a:off x="10337425" y="5949089"/>
            <a:ext cx="665562" cy="679384"/>
          </a:xfrm>
          <a:prstGeom prst="rect">
            <a:avLst/>
          </a:prstGeom>
        </p:spPr>
        <p:txBody>
          <a:bodyPr anchor="t" rtlCol="false" tIns="0" lIns="0" bIns="0" rIns="0">
            <a:spAutoFit/>
          </a:bodyPr>
          <a:lstStyle/>
          <a:p>
            <a:pPr algn="ctr">
              <a:lnSpc>
                <a:spcPts val="5599"/>
              </a:lnSpc>
            </a:pPr>
            <a:r>
              <a:rPr lang="en-US" b="true" sz="3999">
                <a:solidFill>
                  <a:srgbClr val="F3F6FB"/>
                </a:solidFill>
                <a:latin typeface="Inter Bold"/>
                <a:ea typeface="Inter Bold"/>
                <a:cs typeface="Inter Bold"/>
                <a:sym typeface="Inter Bold"/>
              </a:rPr>
              <a:t>3</a:t>
            </a:r>
          </a:p>
        </p:txBody>
      </p:sp>
      <p:sp>
        <p:nvSpPr>
          <p:cNvPr name="TextBox 44" id="44"/>
          <p:cNvSpPr txBox="true"/>
          <p:nvPr/>
        </p:nvSpPr>
        <p:spPr>
          <a:xfrm rot="0">
            <a:off x="10337425" y="7173890"/>
            <a:ext cx="665562" cy="679384"/>
          </a:xfrm>
          <a:prstGeom prst="rect">
            <a:avLst/>
          </a:prstGeom>
        </p:spPr>
        <p:txBody>
          <a:bodyPr anchor="t" rtlCol="false" tIns="0" lIns="0" bIns="0" rIns="0">
            <a:spAutoFit/>
          </a:bodyPr>
          <a:lstStyle/>
          <a:p>
            <a:pPr algn="ctr">
              <a:lnSpc>
                <a:spcPts val="5599"/>
              </a:lnSpc>
            </a:pPr>
            <a:r>
              <a:rPr lang="en-US" b="true" sz="3999">
                <a:solidFill>
                  <a:srgbClr val="F3F6FB"/>
                </a:solidFill>
                <a:latin typeface="Inter Bold"/>
                <a:ea typeface="Inter Bold"/>
                <a:cs typeface="Inter Bold"/>
                <a:sym typeface="Inter Bold"/>
              </a:rPr>
              <a:t>4</a:t>
            </a:r>
          </a:p>
        </p:txBody>
      </p:sp>
      <p:sp>
        <p:nvSpPr>
          <p:cNvPr name="TextBox 45" id="45"/>
          <p:cNvSpPr txBox="true"/>
          <p:nvPr/>
        </p:nvSpPr>
        <p:spPr>
          <a:xfrm rot="0">
            <a:off x="10337425" y="8391933"/>
            <a:ext cx="665562" cy="679384"/>
          </a:xfrm>
          <a:prstGeom prst="rect">
            <a:avLst/>
          </a:prstGeom>
        </p:spPr>
        <p:txBody>
          <a:bodyPr anchor="t" rtlCol="false" tIns="0" lIns="0" bIns="0" rIns="0">
            <a:spAutoFit/>
          </a:bodyPr>
          <a:lstStyle/>
          <a:p>
            <a:pPr algn="ctr">
              <a:lnSpc>
                <a:spcPts val="5599"/>
              </a:lnSpc>
            </a:pPr>
            <a:r>
              <a:rPr lang="en-US" b="true" sz="3999">
                <a:solidFill>
                  <a:srgbClr val="F3F6FB"/>
                </a:solidFill>
                <a:latin typeface="Inter Bold"/>
                <a:ea typeface="Inter Bold"/>
                <a:cs typeface="Inter Bold"/>
                <a:sym typeface="Inter Bold"/>
              </a:rPr>
              <a:t>5</a:t>
            </a:r>
          </a:p>
        </p:txBody>
      </p:sp>
      <p:sp>
        <p:nvSpPr>
          <p:cNvPr name="TextBox 46" id="46"/>
          <p:cNvSpPr txBox="true"/>
          <p:nvPr/>
        </p:nvSpPr>
        <p:spPr>
          <a:xfrm rot="0">
            <a:off x="1323975" y="2890749"/>
            <a:ext cx="8624920" cy="3917950"/>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Inter"/>
                <a:ea typeface="Inter"/>
                <a:cs typeface="Inter"/>
                <a:sym typeface="Inter"/>
              </a:rPr>
              <a:t>Se</a:t>
            </a:r>
            <a:r>
              <a:rPr lang="en-US" sz="2499">
                <a:solidFill>
                  <a:srgbClr val="000000"/>
                </a:solidFill>
                <a:latin typeface="Inter"/>
                <a:ea typeface="Inter"/>
                <a:cs typeface="Inter"/>
                <a:sym typeface="Inter"/>
              </a:rPr>
              <a:t> realizó una validación de calidad sobre los datos descargados desde Yahoo Finance. Se verificó la existencia de valores faltantes (NA) mediante la función colSums(is.na()), obteniéndose cero registros faltantes en todas las variables analizadas. Asimismo, se comprobó la ausencia de registros duplicados utilizando duplicated(). Por lo tanto, no fue necesario aplicar procesos adicionales de imputación o depuración de datos antes de realizar el análisis estadístico y financiero.</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36724" y="4910565"/>
            <a:ext cx="3646588" cy="3491299"/>
            <a:chOff x="0" y="0"/>
            <a:chExt cx="960418" cy="919519"/>
          </a:xfrm>
        </p:grpSpPr>
        <p:sp>
          <p:nvSpPr>
            <p:cNvPr name="Freeform 3" id="3"/>
            <p:cNvSpPr/>
            <p:nvPr/>
          </p:nvSpPr>
          <p:spPr>
            <a:xfrm flipH="false" flipV="false" rot="0">
              <a:off x="0" y="0"/>
              <a:ext cx="960418" cy="919519"/>
            </a:xfrm>
            <a:custGeom>
              <a:avLst/>
              <a:gdLst/>
              <a:ahLst/>
              <a:cxnLst/>
              <a:rect r="r" b="b" t="t" l="l"/>
              <a:pathLst>
                <a:path h="919519" w="960418">
                  <a:moveTo>
                    <a:pt x="108276" y="0"/>
                  </a:moveTo>
                  <a:lnTo>
                    <a:pt x="852142" y="0"/>
                  </a:lnTo>
                  <a:cubicBezTo>
                    <a:pt x="911941" y="0"/>
                    <a:pt x="960418" y="48477"/>
                    <a:pt x="960418" y="108276"/>
                  </a:cubicBezTo>
                  <a:lnTo>
                    <a:pt x="960418" y="811243"/>
                  </a:lnTo>
                  <a:cubicBezTo>
                    <a:pt x="960418" y="871042"/>
                    <a:pt x="911941" y="919519"/>
                    <a:pt x="852142" y="919519"/>
                  </a:cubicBezTo>
                  <a:lnTo>
                    <a:pt x="108276" y="919519"/>
                  </a:lnTo>
                  <a:cubicBezTo>
                    <a:pt x="48477" y="919519"/>
                    <a:pt x="0" y="871042"/>
                    <a:pt x="0" y="811243"/>
                  </a:cubicBezTo>
                  <a:lnTo>
                    <a:pt x="0" y="108276"/>
                  </a:lnTo>
                  <a:cubicBezTo>
                    <a:pt x="0" y="48477"/>
                    <a:pt x="48477" y="0"/>
                    <a:pt x="108276" y="0"/>
                  </a:cubicBezTo>
                  <a:close/>
                </a:path>
              </a:pathLst>
            </a:custGeom>
            <a:solidFill>
              <a:srgbClr val="3B82F6"/>
            </a:solidFill>
          </p:spPr>
        </p:sp>
        <p:sp>
          <p:nvSpPr>
            <p:cNvPr name="TextBox 4" id="4"/>
            <p:cNvSpPr txBox="true"/>
            <p:nvPr/>
          </p:nvSpPr>
          <p:spPr>
            <a:xfrm>
              <a:off x="0" y="-38100"/>
              <a:ext cx="960418" cy="957619"/>
            </a:xfrm>
            <a:prstGeom prst="rect">
              <a:avLst/>
            </a:prstGeom>
          </p:spPr>
          <p:txBody>
            <a:bodyPr anchor="ctr" rtlCol="false" tIns="50800" lIns="50800" bIns="50800" rIns="50800"/>
            <a:lstStyle/>
            <a:p>
              <a:pPr algn="ctr">
                <a:lnSpc>
                  <a:spcPts val="3499"/>
                </a:lnSpc>
              </a:pPr>
            </a:p>
          </p:txBody>
        </p:sp>
      </p:grpSp>
      <p:grpSp>
        <p:nvGrpSpPr>
          <p:cNvPr name="Group 5" id="5"/>
          <p:cNvGrpSpPr/>
          <p:nvPr/>
        </p:nvGrpSpPr>
        <p:grpSpPr>
          <a:xfrm rot="0">
            <a:off x="5259562" y="6534612"/>
            <a:ext cx="3646588" cy="3501251"/>
            <a:chOff x="0" y="0"/>
            <a:chExt cx="960418" cy="922140"/>
          </a:xfrm>
        </p:grpSpPr>
        <p:sp>
          <p:nvSpPr>
            <p:cNvPr name="Freeform 6" id="6"/>
            <p:cNvSpPr/>
            <p:nvPr/>
          </p:nvSpPr>
          <p:spPr>
            <a:xfrm flipH="false" flipV="false" rot="0">
              <a:off x="0" y="0"/>
              <a:ext cx="960418" cy="922140"/>
            </a:xfrm>
            <a:custGeom>
              <a:avLst/>
              <a:gdLst/>
              <a:ahLst/>
              <a:cxnLst/>
              <a:rect r="r" b="b" t="t" l="l"/>
              <a:pathLst>
                <a:path h="922140" w="960418">
                  <a:moveTo>
                    <a:pt x="108276" y="0"/>
                  </a:moveTo>
                  <a:lnTo>
                    <a:pt x="852142" y="0"/>
                  </a:lnTo>
                  <a:cubicBezTo>
                    <a:pt x="911941" y="0"/>
                    <a:pt x="960418" y="48477"/>
                    <a:pt x="960418" y="108276"/>
                  </a:cubicBezTo>
                  <a:lnTo>
                    <a:pt x="960418" y="813864"/>
                  </a:lnTo>
                  <a:cubicBezTo>
                    <a:pt x="960418" y="873664"/>
                    <a:pt x="911941" y="922140"/>
                    <a:pt x="852142" y="922140"/>
                  </a:cubicBezTo>
                  <a:lnTo>
                    <a:pt x="108276" y="922140"/>
                  </a:lnTo>
                  <a:cubicBezTo>
                    <a:pt x="79559" y="922140"/>
                    <a:pt x="52019" y="910733"/>
                    <a:pt x="31713" y="890427"/>
                  </a:cubicBezTo>
                  <a:cubicBezTo>
                    <a:pt x="11408" y="870121"/>
                    <a:pt x="0" y="842581"/>
                    <a:pt x="0" y="813864"/>
                  </a:cubicBezTo>
                  <a:lnTo>
                    <a:pt x="0" y="108276"/>
                  </a:lnTo>
                  <a:cubicBezTo>
                    <a:pt x="0" y="48477"/>
                    <a:pt x="48477" y="0"/>
                    <a:pt x="108276" y="0"/>
                  </a:cubicBezTo>
                  <a:close/>
                </a:path>
              </a:pathLst>
            </a:custGeom>
            <a:solidFill>
              <a:srgbClr val="3B82F6"/>
            </a:solidFill>
          </p:spPr>
        </p:sp>
        <p:sp>
          <p:nvSpPr>
            <p:cNvPr name="TextBox 7" id="7"/>
            <p:cNvSpPr txBox="true"/>
            <p:nvPr/>
          </p:nvSpPr>
          <p:spPr>
            <a:xfrm>
              <a:off x="0" y="-38100"/>
              <a:ext cx="960418" cy="960240"/>
            </a:xfrm>
            <a:prstGeom prst="rect">
              <a:avLst/>
            </a:prstGeom>
          </p:spPr>
          <p:txBody>
            <a:bodyPr anchor="ctr" rtlCol="false" tIns="50800" lIns="50800" bIns="50800" rIns="50800"/>
            <a:lstStyle/>
            <a:p>
              <a:pPr algn="ctr">
                <a:lnSpc>
                  <a:spcPts val="3499"/>
                </a:lnSpc>
              </a:pPr>
            </a:p>
          </p:txBody>
        </p:sp>
      </p:grpSp>
      <p:grpSp>
        <p:nvGrpSpPr>
          <p:cNvPr name="Group 8" id="8"/>
          <p:cNvGrpSpPr/>
          <p:nvPr/>
        </p:nvGrpSpPr>
        <p:grpSpPr>
          <a:xfrm rot="0">
            <a:off x="9382400" y="4757732"/>
            <a:ext cx="3652894" cy="3357030"/>
            <a:chOff x="0" y="0"/>
            <a:chExt cx="962079" cy="884156"/>
          </a:xfrm>
        </p:grpSpPr>
        <p:sp>
          <p:nvSpPr>
            <p:cNvPr name="Freeform 9" id="9"/>
            <p:cNvSpPr/>
            <p:nvPr/>
          </p:nvSpPr>
          <p:spPr>
            <a:xfrm flipH="false" flipV="false" rot="0">
              <a:off x="0" y="0"/>
              <a:ext cx="962079" cy="884156"/>
            </a:xfrm>
            <a:custGeom>
              <a:avLst/>
              <a:gdLst/>
              <a:ahLst/>
              <a:cxnLst/>
              <a:rect r="r" b="b" t="t" l="l"/>
              <a:pathLst>
                <a:path h="884156" w="962079">
                  <a:moveTo>
                    <a:pt x="108089" y="0"/>
                  </a:moveTo>
                  <a:lnTo>
                    <a:pt x="853990" y="0"/>
                  </a:lnTo>
                  <a:cubicBezTo>
                    <a:pt x="913686" y="0"/>
                    <a:pt x="962079" y="48393"/>
                    <a:pt x="962079" y="108089"/>
                  </a:cubicBezTo>
                  <a:lnTo>
                    <a:pt x="962079" y="776067"/>
                  </a:lnTo>
                  <a:cubicBezTo>
                    <a:pt x="962079" y="804734"/>
                    <a:pt x="950691" y="832227"/>
                    <a:pt x="930421" y="852497"/>
                  </a:cubicBezTo>
                  <a:cubicBezTo>
                    <a:pt x="910150" y="872768"/>
                    <a:pt x="882657" y="884156"/>
                    <a:pt x="853990" y="884156"/>
                  </a:cubicBezTo>
                  <a:lnTo>
                    <a:pt x="108089" y="884156"/>
                  </a:lnTo>
                  <a:cubicBezTo>
                    <a:pt x="48393" y="884156"/>
                    <a:pt x="0" y="835763"/>
                    <a:pt x="0" y="776067"/>
                  </a:cubicBezTo>
                  <a:lnTo>
                    <a:pt x="0" y="108089"/>
                  </a:lnTo>
                  <a:cubicBezTo>
                    <a:pt x="0" y="48393"/>
                    <a:pt x="48393" y="0"/>
                    <a:pt x="108089" y="0"/>
                  </a:cubicBezTo>
                  <a:close/>
                </a:path>
              </a:pathLst>
            </a:custGeom>
            <a:solidFill>
              <a:srgbClr val="3B82F6"/>
            </a:solidFill>
          </p:spPr>
        </p:sp>
        <p:sp>
          <p:nvSpPr>
            <p:cNvPr name="TextBox 10" id="10"/>
            <p:cNvSpPr txBox="true"/>
            <p:nvPr/>
          </p:nvSpPr>
          <p:spPr>
            <a:xfrm>
              <a:off x="0" y="-38100"/>
              <a:ext cx="962079" cy="922256"/>
            </a:xfrm>
            <a:prstGeom prst="rect">
              <a:avLst/>
            </a:prstGeom>
          </p:spPr>
          <p:txBody>
            <a:bodyPr anchor="ctr" rtlCol="false" tIns="50800" lIns="50800" bIns="50800" rIns="50800"/>
            <a:lstStyle/>
            <a:p>
              <a:pPr algn="ctr">
                <a:lnSpc>
                  <a:spcPts val="3499"/>
                </a:lnSpc>
              </a:pPr>
            </a:p>
          </p:txBody>
        </p:sp>
      </p:grpSp>
      <p:grpSp>
        <p:nvGrpSpPr>
          <p:cNvPr name="Group 11" id="11"/>
          <p:cNvGrpSpPr/>
          <p:nvPr/>
        </p:nvGrpSpPr>
        <p:grpSpPr>
          <a:xfrm rot="0">
            <a:off x="13358271" y="5267528"/>
            <a:ext cx="4268278" cy="3916109"/>
            <a:chOff x="0" y="0"/>
            <a:chExt cx="1124155" cy="1031403"/>
          </a:xfrm>
        </p:grpSpPr>
        <p:sp>
          <p:nvSpPr>
            <p:cNvPr name="Freeform 12" id="12"/>
            <p:cNvSpPr/>
            <p:nvPr/>
          </p:nvSpPr>
          <p:spPr>
            <a:xfrm flipH="false" flipV="false" rot="0">
              <a:off x="0" y="0"/>
              <a:ext cx="1124155" cy="1031403"/>
            </a:xfrm>
            <a:custGeom>
              <a:avLst/>
              <a:gdLst/>
              <a:ahLst/>
              <a:cxnLst/>
              <a:rect r="r" b="b" t="t" l="l"/>
              <a:pathLst>
                <a:path h="1031403" w="1124155">
                  <a:moveTo>
                    <a:pt x="92505" y="0"/>
                  </a:moveTo>
                  <a:lnTo>
                    <a:pt x="1031650" y="0"/>
                  </a:lnTo>
                  <a:cubicBezTo>
                    <a:pt x="1056184" y="0"/>
                    <a:pt x="1079713" y="9746"/>
                    <a:pt x="1097061" y="27094"/>
                  </a:cubicBezTo>
                  <a:cubicBezTo>
                    <a:pt x="1114409" y="44442"/>
                    <a:pt x="1124155" y="67971"/>
                    <a:pt x="1124155" y="92505"/>
                  </a:cubicBezTo>
                  <a:lnTo>
                    <a:pt x="1124155" y="938898"/>
                  </a:lnTo>
                  <a:cubicBezTo>
                    <a:pt x="1124155" y="989987"/>
                    <a:pt x="1082739" y="1031403"/>
                    <a:pt x="1031650" y="1031403"/>
                  </a:cubicBezTo>
                  <a:lnTo>
                    <a:pt x="92505" y="1031403"/>
                  </a:lnTo>
                  <a:cubicBezTo>
                    <a:pt x="41416" y="1031403"/>
                    <a:pt x="0" y="989987"/>
                    <a:pt x="0" y="938898"/>
                  </a:cubicBezTo>
                  <a:lnTo>
                    <a:pt x="0" y="92505"/>
                  </a:lnTo>
                  <a:cubicBezTo>
                    <a:pt x="0" y="41416"/>
                    <a:pt x="41416" y="0"/>
                    <a:pt x="92505" y="0"/>
                  </a:cubicBezTo>
                  <a:close/>
                </a:path>
              </a:pathLst>
            </a:custGeom>
            <a:solidFill>
              <a:srgbClr val="3B82F6"/>
            </a:solidFill>
          </p:spPr>
        </p:sp>
        <p:sp>
          <p:nvSpPr>
            <p:cNvPr name="TextBox 13" id="13"/>
            <p:cNvSpPr txBox="true"/>
            <p:nvPr/>
          </p:nvSpPr>
          <p:spPr>
            <a:xfrm>
              <a:off x="0" y="-38100"/>
              <a:ext cx="1124155" cy="1069503"/>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2545739" y="3908179"/>
            <a:ext cx="794924" cy="79492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D4BF"/>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3499"/>
                </a:lnSpc>
              </a:pPr>
            </a:p>
          </p:txBody>
        </p:sp>
      </p:grpSp>
      <p:grpSp>
        <p:nvGrpSpPr>
          <p:cNvPr name="Group 17" id="17"/>
          <p:cNvGrpSpPr/>
          <p:nvPr/>
        </p:nvGrpSpPr>
        <p:grpSpPr>
          <a:xfrm rot="0">
            <a:off x="6685394" y="5461681"/>
            <a:ext cx="794924" cy="794924"/>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D4BF"/>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3499"/>
                </a:lnSpc>
              </a:pPr>
            </a:p>
          </p:txBody>
        </p:sp>
      </p:grpSp>
      <p:grpSp>
        <p:nvGrpSpPr>
          <p:cNvPr name="Group 20" id="20"/>
          <p:cNvGrpSpPr/>
          <p:nvPr/>
        </p:nvGrpSpPr>
        <p:grpSpPr>
          <a:xfrm rot="0">
            <a:off x="10808232" y="3812309"/>
            <a:ext cx="794924" cy="794924"/>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D4BF"/>
            </a:solidFill>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a:lnSpc>
                  <a:spcPts val="3499"/>
                </a:lnSpc>
              </a:pPr>
            </a:p>
          </p:txBody>
        </p:sp>
      </p:grpSp>
      <p:grpSp>
        <p:nvGrpSpPr>
          <p:cNvPr name="Group 23" id="23"/>
          <p:cNvGrpSpPr/>
          <p:nvPr/>
        </p:nvGrpSpPr>
        <p:grpSpPr>
          <a:xfrm rot="0">
            <a:off x="14843903" y="4360270"/>
            <a:ext cx="794924" cy="794924"/>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D4BF"/>
            </a:solidFill>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a:lnSpc>
                  <a:spcPts val="3499"/>
                </a:lnSpc>
              </a:pPr>
            </a:p>
          </p:txBody>
        </p:sp>
      </p:grpSp>
      <p:sp>
        <p:nvSpPr>
          <p:cNvPr name="Freeform 26" id="26"/>
          <p:cNvSpPr/>
          <p:nvPr/>
        </p:nvSpPr>
        <p:spPr>
          <a:xfrm flipH="false" flipV="false" rot="0">
            <a:off x="16350000" y="1403565"/>
            <a:ext cx="909300" cy="909300"/>
          </a:xfrm>
          <a:custGeom>
            <a:avLst/>
            <a:gdLst/>
            <a:ahLst/>
            <a:cxnLst/>
            <a:rect r="r" b="b" t="t" l="l"/>
            <a:pathLst>
              <a:path h="909300" w="909300">
                <a:moveTo>
                  <a:pt x="0" y="0"/>
                </a:moveTo>
                <a:lnTo>
                  <a:pt x="909300" y="0"/>
                </a:lnTo>
                <a:lnTo>
                  <a:pt x="909300" y="909300"/>
                </a:lnTo>
                <a:lnTo>
                  <a:pt x="0" y="909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7" id="27"/>
          <p:cNvSpPr/>
          <p:nvPr/>
        </p:nvSpPr>
        <p:spPr>
          <a:xfrm flipH="false" flipV="false" rot="0">
            <a:off x="1029243" y="8462507"/>
            <a:ext cx="3162354" cy="2225147"/>
          </a:xfrm>
          <a:custGeom>
            <a:avLst/>
            <a:gdLst/>
            <a:ahLst/>
            <a:cxnLst/>
            <a:rect r="r" b="b" t="t" l="l"/>
            <a:pathLst>
              <a:path h="2225147" w="3162354">
                <a:moveTo>
                  <a:pt x="0" y="0"/>
                </a:moveTo>
                <a:lnTo>
                  <a:pt x="3162354" y="0"/>
                </a:lnTo>
                <a:lnTo>
                  <a:pt x="3162354" y="2225147"/>
                </a:lnTo>
                <a:lnTo>
                  <a:pt x="0" y="22251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8" id="28"/>
          <p:cNvSpPr txBox="true"/>
          <p:nvPr/>
        </p:nvSpPr>
        <p:spPr>
          <a:xfrm rot="0">
            <a:off x="1938000" y="895350"/>
            <a:ext cx="6745244" cy="1193800"/>
          </a:xfrm>
          <a:prstGeom prst="rect">
            <a:avLst/>
          </a:prstGeom>
        </p:spPr>
        <p:txBody>
          <a:bodyPr anchor="t" rtlCol="false" tIns="0" lIns="0" bIns="0" rIns="0">
            <a:spAutoFit/>
          </a:bodyPr>
          <a:lstStyle/>
          <a:p>
            <a:pPr algn="l">
              <a:lnSpc>
                <a:spcPts val="9799"/>
              </a:lnSpc>
            </a:pPr>
            <a:r>
              <a:rPr lang="en-US" sz="6999" b="true">
                <a:solidFill>
                  <a:srgbClr val="1F4FD8"/>
                </a:solidFill>
                <a:latin typeface="Inter Bold"/>
                <a:ea typeface="Inter Bold"/>
                <a:cs typeface="Inter Bold"/>
                <a:sym typeface="Inter Bold"/>
              </a:rPr>
              <a:t>EXPLORACIÓN</a:t>
            </a:r>
          </a:p>
        </p:txBody>
      </p:sp>
      <p:sp>
        <p:nvSpPr>
          <p:cNvPr name="TextBox 29" id="29"/>
          <p:cNvSpPr txBox="true"/>
          <p:nvPr/>
        </p:nvSpPr>
        <p:spPr>
          <a:xfrm rot="0">
            <a:off x="8370370" y="895350"/>
            <a:ext cx="7355074" cy="1193800"/>
          </a:xfrm>
          <a:prstGeom prst="rect">
            <a:avLst/>
          </a:prstGeom>
        </p:spPr>
        <p:txBody>
          <a:bodyPr anchor="t" rtlCol="false" tIns="0" lIns="0" bIns="0" rIns="0">
            <a:spAutoFit/>
          </a:bodyPr>
          <a:lstStyle/>
          <a:p>
            <a:pPr algn="l">
              <a:lnSpc>
                <a:spcPts val="9799"/>
              </a:lnSpc>
            </a:pPr>
            <a:r>
              <a:rPr lang="en-US" sz="6999" b="true">
                <a:solidFill>
                  <a:srgbClr val="3B82F6"/>
                </a:solidFill>
                <a:latin typeface="Inter Bold"/>
                <a:ea typeface="Inter Bold"/>
                <a:cs typeface="Inter Bold"/>
                <a:sym typeface="Inter Bold"/>
              </a:rPr>
              <a:t>DE DATO</a:t>
            </a:r>
            <a:r>
              <a:rPr lang="en-US" b="true" sz="6999">
                <a:solidFill>
                  <a:srgbClr val="3B82F6"/>
                </a:solidFill>
                <a:latin typeface="Inter Bold"/>
                <a:ea typeface="Inter Bold"/>
                <a:cs typeface="Inter Bold"/>
                <a:sym typeface="Inter Bold"/>
              </a:rPr>
              <a:t>S</a:t>
            </a:r>
          </a:p>
        </p:txBody>
      </p:sp>
      <p:sp>
        <p:nvSpPr>
          <p:cNvPr name="TextBox 30" id="30"/>
          <p:cNvSpPr txBox="true"/>
          <p:nvPr/>
        </p:nvSpPr>
        <p:spPr>
          <a:xfrm rot="0">
            <a:off x="1405760" y="5360214"/>
            <a:ext cx="3108515" cy="3041650"/>
          </a:xfrm>
          <a:prstGeom prst="rect">
            <a:avLst/>
          </a:prstGeom>
        </p:spPr>
        <p:txBody>
          <a:bodyPr anchor="t" rtlCol="false" tIns="0" lIns="0" bIns="0" rIns="0">
            <a:spAutoFit/>
          </a:bodyPr>
          <a:lstStyle/>
          <a:p>
            <a:pPr algn="ctr">
              <a:lnSpc>
                <a:spcPts val="3499"/>
              </a:lnSpc>
              <a:spcBef>
                <a:spcPct val="0"/>
              </a:spcBef>
            </a:pPr>
            <a:r>
              <a:rPr lang="en-US" sz="2499">
                <a:solidFill>
                  <a:srgbClr val="F3F6FB"/>
                </a:solidFill>
                <a:latin typeface="Inter"/>
                <a:ea typeface="Inter"/>
                <a:cs typeface="Inter"/>
                <a:sym typeface="Inter"/>
              </a:rPr>
              <a:t>D</a:t>
            </a:r>
            <a:r>
              <a:rPr lang="en-US" sz="2499">
                <a:solidFill>
                  <a:srgbClr val="F3F6FB"/>
                </a:solidFill>
                <a:latin typeface="Inter"/>
                <a:ea typeface="Inter"/>
                <a:cs typeface="Inter"/>
                <a:sym typeface="Inter"/>
              </a:rPr>
              <a:t>ataset Consolidado</a:t>
            </a:r>
          </a:p>
          <a:p>
            <a:pPr algn="ctr">
              <a:lnSpc>
                <a:spcPts val="3499"/>
              </a:lnSpc>
              <a:spcBef>
                <a:spcPct val="0"/>
              </a:spcBef>
            </a:pPr>
            <a:r>
              <a:rPr lang="en-US" sz="2499">
                <a:solidFill>
                  <a:srgbClr val="F3F6FB"/>
                </a:solidFill>
                <a:latin typeface="Inter"/>
                <a:ea typeface="Inter"/>
                <a:cs typeface="Inter"/>
                <a:sym typeface="Inter"/>
              </a:rPr>
              <a:t>• 765 observaciones</a:t>
            </a:r>
          </a:p>
          <a:p>
            <a:pPr algn="ctr">
              <a:lnSpc>
                <a:spcPts val="3499"/>
              </a:lnSpc>
              <a:spcBef>
                <a:spcPct val="0"/>
              </a:spcBef>
            </a:pPr>
            <a:r>
              <a:rPr lang="en-US" sz="2499">
                <a:solidFill>
                  <a:srgbClr val="F3F6FB"/>
                </a:solidFill>
                <a:latin typeface="Inter"/>
                <a:ea typeface="Inter"/>
                <a:cs typeface="Inter"/>
                <a:sym typeface="Inter"/>
              </a:rPr>
              <a:t> • 9 variables</a:t>
            </a:r>
          </a:p>
          <a:p>
            <a:pPr algn="ctr">
              <a:lnSpc>
                <a:spcPts val="3499"/>
              </a:lnSpc>
              <a:spcBef>
                <a:spcPct val="0"/>
              </a:spcBef>
            </a:pPr>
            <a:r>
              <a:rPr lang="en-US" sz="2499">
                <a:solidFill>
                  <a:srgbClr val="F3F6FB"/>
                </a:solidFill>
                <a:latin typeface="Inter"/>
                <a:ea typeface="Inter"/>
                <a:cs typeface="Inter"/>
                <a:sym typeface="Inter"/>
              </a:rPr>
              <a:t> • Datos históricos de AAPL, NVDA y AMZN</a:t>
            </a:r>
          </a:p>
          <a:p>
            <a:pPr algn="ctr">
              <a:lnSpc>
                <a:spcPts val="3499"/>
              </a:lnSpc>
              <a:spcBef>
                <a:spcPct val="0"/>
              </a:spcBef>
            </a:pPr>
          </a:p>
        </p:txBody>
      </p:sp>
      <p:sp>
        <p:nvSpPr>
          <p:cNvPr name="TextBox 31" id="31"/>
          <p:cNvSpPr txBox="true"/>
          <p:nvPr/>
        </p:nvSpPr>
        <p:spPr>
          <a:xfrm rot="0">
            <a:off x="5385672" y="6922632"/>
            <a:ext cx="3394368" cy="3041650"/>
          </a:xfrm>
          <a:prstGeom prst="rect">
            <a:avLst/>
          </a:prstGeom>
        </p:spPr>
        <p:txBody>
          <a:bodyPr anchor="t" rtlCol="false" tIns="0" lIns="0" bIns="0" rIns="0">
            <a:spAutoFit/>
          </a:bodyPr>
          <a:lstStyle/>
          <a:p>
            <a:pPr algn="ctr">
              <a:lnSpc>
                <a:spcPts val="3499"/>
              </a:lnSpc>
            </a:pPr>
            <a:r>
              <a:rPr lang="en-US" sz="2499">
                <a:solidFill>
                  <a:srgbClr val="F3F6FB"/>
                </a:solidFill>
                <a:latin typeface="Inter"/>
                <a:ea typeface="Inter"/>
                <a:cs typeface="Inter"/>
                <a:sym typeface="Inter"/>
              </a:rPr>
              <a:t>Variables Analizadas</a:t>
            </a:r>
          </a:p>
          <a:p>
            <a:pPr algn="ctr">
              <a:lnSpc>
                <a:spcPts val="3499"/>
              </a:lnSpc>
            </a:pPr>
            <a:r>
              <a:rPr lang="en-US" sz="2499">
                <a:solidFill>
                  <a:srgbClr val="F3F6FB"/>
                </a:solidFill>
                <a:latin typeface="Inter"/>
                <a:ea typeface="Inter"/>
                <a:cs typeface="Inter"/>
                <a:sym typeface="Inter"/>
              </a:rPr>
              <a:t>• Open</a:t>
            </a:r>
          </a:p>
          <a:p>
            <a:pPr algn="ctr">
              <a:lnSpc>
                <a:spcPts val="3499"/>
              </a:lnSpc>
            </a:pPr>
            <a:r>
              <a:rPr lang="en-US" sz="2499">
                <a:solidFill>
                  <a:srgbClr val="F3F6FB"/>
                </a:solidFill>
                <a:latin typeface="Inter"/>
                <a:ea typeface="Inter"/>
                <a:cs typeface="Inter"/>
                <a:sym typeface="Inter"/>
              </a:rPr>
              <a:t> • High</a:t>
            </a:r>
          </a:p>
          <a:p>
            <a:pPr algn="ctr">
              <a:lnSpc>
                <a:spcPts val="3499"/>
              </a:lnSpc>
            </a:pPr>
            <a:r>
              <a:rPr lang="en-US" sz="2499">
                <a:solidFill>
                  <a:srgbClr val="F3F6FB"/>
                </a:solidFill>
                <a:latin typeface="Inter"/>
                <a:ea typeface="Inter"/>
                <a:cs typeface="Inter"/>
                <a:sym typeface="Inter"/>
              </a:rPr>
              <a:t> • Low</a:t>
            </a:r>
          </a:p>
          <a:p>
            <a:pPr algn="ctr">
              <a:lnSpc>
                <a:spcPts val="3499"/>
              </a:lnSpc>
              <a:spcBef>
                <a:spcPct val="0"/>
              </a:spcBef>
            </a:pPr>
            <a:r>
              <a:rPr lang="en-US" sz="2499">
                <a:solidFill>
                  <a:srgbClr val="F3F6FB"/>
                </a:solidFill>
                <a:latin typeface="Inter"/>
                <a:ea typeface="Inter"/>
                <a:cs typeface="Inter"/>
                <a:sym typeface="Inter"/>
              </a:rPr>
              <a:t> •</a:t>
            </a:r>
            <a:r>
              <a:rPr lang="en-US" sz="2499">
                <a:solidFill>
                  <a:srgbClr val="F3F6FB"/>
                </a:solidFill>
                <a:latin typeface="Inter"/>
                <a:ea typeface="Inter"/>
                <a:cs typeface="Inter"/>
                <a:sym typeface="Inter"/>
              </a:rPr>
              <a:t> Close</a:t>
            </a:r>
          </a:p>
          <a:p>
            <a:pPr algn="ctr">
              <a:lnSpc>
                <a:spcPts val="3499"/>
              </a:lnSpc>
              <a:spcBef>
                <a:spcPct val="0"/>
              </a:spcBef>
            </a:pPr>
            <a:r>
              <a:rPr lang="en-US" sz="2499">
                <a:solidFill>
                  <a:srgbClr val="F3F6FB"/>
                </a:solidFill>
                <a:latin typeface="Inter"/>
                <a:ea typeface="Inter"/>
                <a:cs typeface="Inter"/>
                <a:sym typeface="Inter"/>
              </a:rPr>
              <a:t> • Adjusted</a:t>
            </a:r>
          </a:p>
          <a:p>
            <a:pPr algn="ctr">
              <a:lnSpc>
                <a:spcPts val="3499"/>
              </a:lnSpc>
              <a:spcBef>
                <a:spcPct val="0"/>
              </a:spcBef>
            </a:pPr>
          </a:p>
        </p:txBody>
      </p:sp>
      <p:sp>
        <p:nvSpPr>
          <p:cNvPr name="TextBox 32" id="32"/>
          <p:cNvSpPr txBox="true"/>
          <p:nvPr/>
        </p:nvSpPr>
        <p:spPr>
          <a:xfrm rot="0">
            <a:off x="9508510" y="5073112"/>
            <a:ext cx="3394368" cy="3041650"/>
          </a:xfrm>
          <a:prstGeom prst="rect">
            <a:avLst/>
          </a:prstGeom>
        </p:spPr>
        <p:txBody>
          <a:bodyPr anchor="t" rtlCol="false" tIns="0" lIns="0" bIns="0" rIns="0">
            <a:spAutoFit/>
          </a:bodyPr>
          <a:lstStyle/>
          <a:p>
            <a:pPr algn="ctr">
              <a:lnSpc>
                <a:spcPts val="3499"/>
              </a:lnSpc>
              <a:spcBef>
                <a:spcPct val="0"/>
              </a:spcBef>
            </a:pPr>
            <a:r>
              <a:rPr lang="en-US" sz="2499">
                <a:solidFill>
                  <a:srgbClr val="F3F6FB"/>
                </a:solidFill>
                <a:latin typeface="Inter"/>
                <a:ea typeface="Inter"/>
                <a:cs typeface="Inter"/>
                <a:sym typeface="Inter"/>
              </a:rPr>
              <a:t>Vari</a:t>
            </a:r>
            <a:r>
              <a:rPr lang="en-US" sz="2499">
                <a:solidFill>
                  <a:srgbClr val="F3F6FB"/>
                </a:solidFill>
                <a:latin typeface="Inter"/>
                <a:ea typeface="Inter"/>
                <a:cs typeface="Inter"/>
                <a:sym typeface="Inter"/>
              </a:rPr>
              <a:t>ables Complementarias</a:t>
            </a:r>
          </a:p>
          <a:p>
            <a:pPr algn="ctr">
              <a:lnSpc>
                <a:spcPts val="3499"/>
              </a:lnSpc>
              <a:spcBef>
                <a:spcPct val="0"/>
              </a:spcBef>
            </a:pPr>
            <a:r>
              <a:rPr lang="en-US" sz="2499">
                <a:solidFill>
                  <a:srgbClr val="F3F6FB"/>
                </a:solidFill>
                <a:latin typeface="Inter"/>
                <a:ea typeface="Inter"/>
                <a:cs typeface="Inter"/>
                <a:sym typeface="Inter"/>
              </a:rPr>
              <a:t>• Volume</a:t>
            </a:r>
          </a:p>
          <a:p>
            <a:pPr algn="ctr">
              <a:lnSpc>
                <a:spcPts val="3499"/>
              </a:lnSpc>
              <a:spcBef>
                <a:spcPct val="0"/>
              </a:spcBef>
            </a:pPr>
            <a:r>
              <a:rPr lang="en-US" sz="2499">
                <a:solidFill>
                  <a:srgbClr val="F3F6FB"/>
                </a:solidFill>
                <a:latin typeface="Inter"/>
                <a:ea typeface="Inter"/>
                <a:cs typeface="Inter"/>
                <a:sym typeface="Inter"/>
              </a:rPr>
              <a:t> • Date (Fecha)</a:t>
            </a:r>
          </a:p>
          <a:p>
            <a:pPr algn="ctr">
              <a:lnSpc>
                <a:spcPts val="3499"/>
              </a:lnSpc>
              <a:spcBef>
                <a:spcPct val="0"/>
              </a:spcBef>
            </a:pPr>
            <a:r>
              <a:rPr lang="en-US" sz="2499">
                <a:solidFill>
                  <a:srgbClr val="F3F6FB"/>
                </a:solidFill>
                <a:latin typeface="Inter"/>
                <a:ea typeface="Inter"/>
                <a:cs typeface="Inter"/>
                <a:sym typeface="Inter"/>
              </a:rPr>
              <a:t> • Company (Empresa)</a:t>
            </a:r>
          </a:p>
          <a:p>
            <a:pPr algn="ctr">
              <a:lnSpc>
                <a:spcPts val="3499"/>
              </a:lnSpc>
              <a:spcBef>
                <a:spcPct val="0"/>
              </a:spcBef>
            </a:pPr>
            <a:r>
              <a:rPr lang="en-US" sz="2499">
                <a:solidFill>
                  <a:srgbClr val="F3F6FB"/>
                </a:solidFill>
                <a:latin typeface="Inter"/>
                <a:ea typeface="Inter"/>
                <a:cs typeface="Inter"/>
                <a:sym typeface="Inter"/>
              </a:rPr>
              <a:t> • Ticker</a:t>
            </a:r>
          </a:p>
          <a:p>
            <a:pPr algn="ctr">
              <a:lnSpc>
                <a:spcPts val="3499"/>
              </a:lnSpc>
              <a:spcBef>
                <a:spcPct val="0"/>
              </a:spcBef>
            </a:pPr>
          </a:p>
        </p:txBody>
      </p:sp>
      <p:sp>
        <p:nvSpPr>
          <p:cNvPr name="TextBox 33" id="33"/>
          <p:cNvSpPr txBox="true"/>
          <p:nvPr/>
        </p:nvSpPr>
        <p:spPr>
          <a:xfrm rot="0">
            <a:off x="13504688" y="5219903"/>
            <a:ext cx="4121861" cy="4038397"/>
          </a:xfrm>
          <a:prstGeom prst="rect">
            <a:avLst/>
          </a:prstGeom>
        </p:spPr>
        <p:txBody>
          <a:bodyPr anchor="t" rtlCol="false" tIns="0" lIns="0" bIns="0" rIns="0">
            <a:spAutoFit/>
          </a:bodyPr>
          <a:lstStyle/>
          <a:p>
            <a:pPr algn="ctr">
              <a:lnSpc>
                <a:spcPts val="3675"/>
              </a:lnSpc>
            </a:pPr>
            <a:r>
              <a:rPr lang="en-US" sz="2625">
                <a:solidFill>
                  <a:srgbClr val="F3F6FB"/>
                </a:solidFill>
                <a:latin typeface="Inter"/>
                <a:ea typeface="Inter"/>
                <a:cs typeface="Inter"/>
                <a:sym typeface="Inter"/>
              </a:rPr>
              <a:t>Preguntas Analizadas</a:t>
            </a:r>
          </a:p>
          <a:p>
            <a:pPr algn="ctr">
              <a:lnSpc>
                <a:spcPts val="3675"/>
              </a:lnSpc>
            </a:pPr>
          </a:p>
          <a:p>
            <a:pPr algn="ctr">
              <a:lnSpc>
                <a:spcPts val="3675"/>
              </a:lnSpc>
            </a:pPr>
            <a:r>
              <a:rPr lang="en-US" sz="2625">
                <a:solidFill>
                  <a:srgbClr val="F3F6FB"/>
                </a:solidFill>
                <a:latin typeface="Inter"/>
                <a:ea typeface="Inter"/>
                <a:cs typeface="Inter"/>
                <a:sym typeface="Inter"/>
              </a:rPr>
              <a:t>• ¿Qué empresa tuvo mayor volumen?</a:t>
            </a:r>
          </a:p>
          <a:p>
            <a:pPr algn="ctr">
              <a:lnSpc>
                <a:spcPts val="3675"/>
              </a:lnSpc>
            </a:pPr>
            <a:r>
              <a:rPr lang="en-US" sz="2625">
                <a:solidFill>
                  <a:srgbClr val="F3F6FB"/>
                </a:solidFill>
                <a:latin typeface="Inter"/>
                <a:ea typeface="Inter"/>
                <a:cs typeface="Inter"/>
                <a:sym typeface="Inter"/>
              </a:rPr>
              <a:t> • ¿Qué empresa tuvo mayor precio promedio?</a:t>
            </a:r>
          </a:p>
          <a:p>
            <a:pPr algn="ctr">
              <a:lnSpc>
                <a:spcPts val="3675"/>
              </a:lnSpc>
              <a:spcBef>
                <a:spcPct val="0"/>
              </a:spcBef>
            </a:pPr>
            <a:r>
              <a:rPr lang="en-US" sz="2625">
                <a:solidFill>
                  <a:srgbClr val="F3F6FB"/>
                </a:solidFill>
                <a:latin typeface="Inter"/>
                <a:ea typeface="Inter"/>
                <a:cs typeface="Inter"/>
                <a:sym typeface="Inter"/>
              </a:rPr>
              <a:t> • ¿Cómo evolucion</a:t>
            </a:r>
            <a:r>
              <a:rPr lang="en-US" sz="2625">
                <a:solidFill>
                  <a:srgbClr val="F3F6FB"/>
                </a:solidFill>
                <a:latin typeface="Inter"/>
                <a:ea typeface="Inter"/>
                <a:cs typeface="Inter"/>
                <a:sym typeface="Inter"/>
              </a:rPr>
              <a:t>aron los precios?</a:t>
            </a:r>
          </a:p>
          <a:p>
            <a:pPr algn="ctr">
              <a:lnSpc>
                <a:spcPts val="2940"/>
              </a:lnSpc>
              <a:spcBef>
                <a:spcPct val="0"/>
              </a:spcBef>
            </a:pPr>
          </a:p>
        </p:txBody>
      </p:sp>
      <p:sp>
        <p:nvSpPr>
          <p:cNvPr name="TextBox 34" id="34"/>
          <p:cNvSpPr txBox="true"/>
          <p:nvPr/>
        </p:nvSpPr>
        <p:spPr>
          <a:xfrm rot="0">
            <a:off x="2610420" y="3927849"/>
            <a:ext cx="665562" cy="679384"/>
          </a:xfrm>
          <a:prstGeom prst="rect">
            <a:avLst/>
          </a:prstGeom>
        </p:spPr>
        <p:txBody>
          <a:bodyPr anchor="t" rtlCol="false" tIns="0" lIns="0" bIns="0" rIns="0">
            <a:spAutoFit/>
          </a:bodyPr>
          <a:lstStyle/>
          <a:p>
            <a:pPr algn="ctr">
              <a:lnSpc>
                <a:spcPts val="5599"/>
              </a:lnSpc>
            </a:pPr>
            <a:r>
              <a:rPr lang="en-US" b="true" sz="3999">
                <a:solidFill>
                  <a:srgbClr val="F3F6FB"/>
                </a:solidFill>
                <a:latin typeface="Inter Bold"/>
                <a:ea typeface="Inter Bold"/>
                <a:cs typeface="Inter Bold"/>
                <a:sym typeface="Inter Bold"/>
              </a:rPr>
              <a:t>1</a:t>
            </a:r>
          </a:p>
        </p:txBody>
      </p:sp>
      <p:sp>
        <p:nvSpPr>
          <p:cNvPr name="TextBox 35" id="35"/>
          <p:cNvSpPr txBox="true"/>
          <p:nvPr/>
        </p:nvSpPr>
        <p:spPr>
          <a:xfrm rot="0">
            <a:off x="6750075" y="5481351"/>
            <a:ext cx="665562" cy="679384"/>
          </a:xfrm>
          <a:prstGeom prst="rect">
            <a:avLst/>
          </a:prstGeom>
        </p:spPr>
        <p:txBody>
          <a:bodyPr anchor="t" rtlCol="false" tIns="0" lIns="0" bIns="0" rIns="0">
            <a:spAutoFit/>
          </a:bodyPr>
          <a:lstStyle/>
          <a:p>
            <a:pPr algn="ctr">
              <a:lnSpc>
                <a:spcPts val="5599"/>
              </a:lnSpc>
            </a:pPr>
            <a:r>
              <a:rPr lang="en-US" b="true" sz="3999">
                <a:solidFill>
                  <a:srgbClr val="F3F6FB"/>
                </a:solidFill>
                <a:latin typeface="Inter Bold"/>
                <a:ea typeface="Inter Bold"/>
                <a:cs typeface="Inter Bold"/>
                <a:sym typeface="Inter Bold"/>
              </a:rPr>
              <a:t>2</a:t>
            </a:r>
          </a:p>
        </p:txBody>
      </p:sp>
      <p:sp>
        <p:nvSpPr>
          <p:cNvPr name="TextBox 36" id="36"/>
          <p:cNvSpPr txBox="true"/>
          <p:nvPr/>
        </p:nvSpPr>
        <p:spPr>
          <a:xfrm rot="0">
            <a:off x="10872913" y="3831979"/>
            <a:ext cx="665562" cy="679384"/>
          </a:xfrm>
          <a:prstGeom prst="rect">
            <a:avLst/>
          </a:prstGeom>
        </p:spPr>
        <p:txBody>
          <a:bodyPr anchor="t" rtlCol="false" tIns="0" lIns="0" bIns="0" rIns="0">
            <a:spAutoFit/>
          </a:bodyPr>
          <a:lstStyle/>
          <a:p>
            <a:pPr algn="ctr">
              <a:lnSpc>
                <a:spcPts val="5599"/>
              </a:lnSpc>
            </a:pPr>
            <a:r>
              <a:rPr lang="en-US" b="true" sz="3999">
                <a:solidFill>
                  <a:srgbClr val="F3F6FB"/>
                </a:solidFill>
                <a:latin typeface="Inter Bold"/>
                <a:ea typeface="Inter Bold"/>
                <a:cs typeface="Inter Bold"/>
                <a:sym typeface="Inter Bold"/>
              </a:rPr>
              <a:t>3</a:t>
            </a:r>
          </a:p>
        </p:txBody>
      </p:sp>
      <p:sp>
        <p:nvSpPr>
          <p:cNvPr name="TextBox 37" id="37"/>
          <p:cNvSpPr txBox="true"/>
          <p:nvPr/>
        </p:nvSpPr>
        <p:spPr>
          <a:xfrm rot="0">
            <a:off x="14900056" y="4379940"/>
            <a:ext cx="665562" cy="679384"/>
          </a:xfrm>
          <a:prstGeom prst="rect">
            <a:avLst/>
          </a:prstGeom>
        </p:spPr>
        <p:txBody>
          <a:bodyPr anchor="t" rtlCol="false" tIns="0" lIns="0" bIns="0" rIns="0">
            <a:spAutoFit/>
          </a:bodyPr>
          <a:lstStyle/>
          <a:p>
            <a:pPr algn="ctr">
              <a:lnSpc>
                <a:spcPts val="5599"/>
              </a:lnSpc>
            </a:pPr>
            <a:r>
              <a:rPr lang="en-US" b="true" sz="3999">
                <a:solidFill>
                  <a:srgbClr val="F3F6FB"/>
                </a:solidFill>
                <a:latin typeface="Inter Bold"/>
                <a:ea typeface="Inter Bold"/>
                <a:cs typeface="Inter Bold"/>
                <a:sym typeface="Inter Bold"/>
              </a:rPr>
              <a:t>4</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12840" y="460434"/>
            <a:ext cx="8093930" cy="687259"/>
          </a:xfrm>
          <a:prstGeom prst="rect">
            <a:avLst/>
          </a:prstGeom>
        </p:spPr>
        <p:txBody>
          <a:bodyPr anchor="t" rtlCol="false" tIns="0" lIns="0" bIns="0" rIns="0">
            <a:spAutoFit/>
          </a:bodyPr>
          <a:lstStyle/>
          <a:p>
            <a:pPr algn="l">
              <a:lnSpc>
                <a:spcPts val="5694"/>
              </a:lnSpc>
            </a:pPr>
            <a:r>
              <a:rPr lang="en-US" sz="4067" b="true">
                <a:solidFill>
                  <a:srgbClr val="1F4FD8"/>
                </a:solidFill>
                <a:latin typeface="Inter Bold"/>
                <a:ea typeface="Inter Bold"/>
                <a:cs typeface="Inter Bold"/>
                <a:sym typeface="Inter Bold"/>
              </a:rPr>
              <a:t>ANÁLISIS EXPLORATORIO</a:t>
            </a:r>
          </a:p>
        </p:txBody>
      </p:sp>
      <p:sp>
        <p:nvSpPr>
          <p:cNvPr name="Freeform 3" id="3"/>
          <p:cNvSpPr/>
          <p:nvPr/>
        </p:nvSpPr>
        <p:spPr>
          <a:xfrm flipH="false" flipV="false" rot="0">
            <a:off x="7081060" y="117564"/>
            <a:ext cx="1116395" cy="1116395"/>
          </a:xfrm>
          <a:custGeom>
            <a:avLst/>
            <a:gdLst/>
            <a:ahLst/>
            <a:cxnLst/>
            <a:rect r="r" b="b" t="t" l="l"/>
            <a:pathLst>
              <a:path h="1116395" w="1116395">
                <a:moveTo>
                  <a:pt x="0" y="0"/>
                </a:moveTo>
                <a:lnTo>
                  <a:pt x="1116396" y="0"/>
                </a:lnTo>
                <a:lnTo>
                  <a:pt x="1116396" y="1116395"/>
                </a:lnTo>
                <a:lnTo>
                  <a:pt x="0" y="11163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2950649" y="6029179"/>
            <a:ext cx="4532570" cy="3787921"/>
          </a:xfrm>
          <a:custGeom>
            <a:avLst/>
            <a:gdLst/>
            <a:ahLst/>
            <a:cxnLst/>
            <a:rect r="r" b="b" t="t" l="l"/>
            <a:pathLst>
              <a:path h="3787921" w="4532570">
                <a:moveTo>
                  <a:pt x="0" y="0"/>
                </a:moveTo>
                <a:lnTo>
                  <a:pt x="4532570" y="0"/>
                </a:lnTo>
                <a:lnTo>
                  <a:pt x="4532570" y="3787921"/>
                </a:lnTo>
                <a:lnTo>
                  <a:pt x="0" y="3787921"/>
                </a:lnTo>
                <a:lnTo>
                  <a:pt x="0" y="0"/>
                </a:lnTo>
                <a:close/>
              </a:path>
            </a:pathLst>
          </a:custGeom>
          <a:blipFill>
            <a:blip r:embed="rId4"/>
            <a:stretch>
              <a:fillRect l="0" t="-9829" r="0" b="-9829"/>
            </a:stretch>
          </a:blipFill>
        </p:spPr>
      </p:sp>
      <p:sp>
        <p:nvSpPr>
          <p:cNvPr name="Freeform 5" id="5"/>
          <p:cNvSpPr/>
          <p:nvPr/>
        </p:nvSpPr>
        <p:spPr>
          <a:xfrm flipH="false" flipV="false" rot="0">
            <a:off x="8778555" y="842163"/>
            <a:ext cx="3948174" cy="4301337"/>
          </a:xfrm>
          <a:custGeom>
            <a:avLst/>
            <a:gdLst/>
            <a:ahLst/>
            <a:cxnLst/>
            <a:rect r="r" b="b" t="t" l="l"/>
            <a:pathLst>
              <a:path h="4301337" w="3948174">
                <a:moveTo>
                  <a:pt x="0" y="0"/>
                </a:moveTo>
                <a:lnTo>
                  <a:pt x="3948175" y="0"/>
                </a:lnTo>
                <a:lnTo>
                  <a:pt x="3948175" y="4301337"/>
                </a:lnTo>
                <a:lnTo>
                  <a:pt x="0" y="4301337"/>
                </a:lnTo>
                <a:lnTo>
                  <a:pt x="0" y="0"/>
                </a:lnTo>
                <a:close/>
              </a:path>
            </a:pathLst>
          </a:custGeom>
          <a:blipFill>
            <a:blip r:embed="rId5"/>
            <a:stretch>
              <a:fillRect l="0" t="0" r="0" b="0"/>
            </a:stretch>
          </a:blipFill>
        </p:spPr>
      </p:sp>
      <p:sp>
        <p:nvSpPr>
          <p:cNvPr name="Freeform 6" id="6"/>
          <p:cNvSpPr/>
          <p:nvPr/>
        </p:nvSpPr>
        <p:spPr>
          <a:xfrm flipH="false" flipV="false" rot="0">
            <a:off x="12950649" y="842163"/>
            <a:ext cx="3954864" cy="4301337"/>
          </a:xfrm>
          <a:custGeom>
            <a:avLst/>
            <a:gdLst/>
            <a:ahLst/>
            <a:cxnLst/>
            <a:rect r="r" b="b" t="t" l="l"/>
            <a:pathLst>
              <a:path h="4301337" w="3954864">
                <a:moveTo>
                  <a:pt x="0" y="0"/>
                </a:moveTo>
                <a:lnTo>
                  <a:pt x="3954864" y="0"/>
                </a:lnTo>
                <a:lnTo>
                  <a:pt x="3954864" y="4301337"/>
                </a:lnTo>
                <a:lnTo>
                  <a:pt x="0" y="4301337"/>
                </a:lnTo>
                <a:lnTo>
                  <a:pt x="0" y="0"/>
                </a:lnTo>
                <a:close/>
              </a:path>
            </a:pathLst>
          </a:custGeom>
          <a:blipFill>
            <a:blip r:embed="rId6"/>
            <a:stretch>
              <a:fillRect l="0" t="0" r="0" b="0"/>
            </a:stretch>
          </a:blipFill>
        </p:spPr>
      </p:sp>
      <p:sp>
        <p:nvSpPr>
          <p:cNvPr name="Freeform 7" id="7"/>
          <p:cNvSpPr/>
          <p:nvPr/>
        </p:nvSpPr>
        <p:spPr>
          <a:xfrm flipH="false" flipV="false" rot="0">
            <a:off x="8706770" y="5470379"/>
            <a:ext cx="4091745" cy="4384549"/>
          </a:xfrm>
          <a:custGeom>
            <a:avLst/>
            <a:gdLst/>
            <a:ahLst/>
            <a:cxnLst/>
            <a:rect r="r" b="b" t="t" l="l"/>
            <a:pathLst>
              <a:path h="4384549" w="4091745">
                <a:moveTo>
                  <a:pt x="0" y="0"/>
                </a:moveTo>
                <a:lnTo>
                  <a:pt x="4091745" y="0"/>
                </a:lnTo>
                <a:lnTo>
                  <a:pt x="4091745" y="4384548"/>
                </a:lnTo>
                <a:lnTo>
                  <a:pt x="0" y="4384548"/>
                </a:lnTo>
                <a:lnTo>
                  <a:pt x="0" y="0"/>
                </a:lnTo>
                <a:close/>
              </a:path>
            </a:pathLst>
          </a:custGeom>
          <a:blipFill>
            <a:blip r:embed="rId7"/>
            <a:stretch>
              <a:fillRect l="0" t="0" r="0" b="0"/>
            </a:stretch>
          </a:blipFill>
        </p:spPr>
      </p:sp>
      <p:sp>
        <p:nvSpPr>
          <p:cNvPr name="Freeform 8" id="8"/>
          <p:cNvSpPr/>
          <p:nvPr/>
        </p:nvSpPr>
        <p:spPr>
          <a:xfrm flipH="false" flipV="false" rot="0">
            <a:off x="387206" y="6384779"/>
            <a:ext cx="3090897" cy="1279565"/>
          </a:xfrm>
          <a:custGeom>
            <a:avLst/>
            <a:gdLst/>
            <a:ahLst/>
            <a:cxnLst/>
            <a:rect r="r" b="b" t="t" l="l"/>
            <a:pathLst>
              <a:path h="1279565" w="3090897">
                <a:moveTo>
                  <a:pt x="0" y="0"/>
                </a:moveTo>
                <a:lnTo>
                  <a:pt x="3090896" y="0"/>
                </a:lnTo>
                <a:lnTo>
                  <a:pt x="3090896" y="1279565"/>
                </a:lnTo>
                <a:lnTo>
                  <a:pt x="0" y="1279565"/>
                </a:lnTo>
                <a:lnTo>
                  <a:pt x="0" y="0"/>
                </a:lnTo>
                <a:close/>
              </a:path>
            </a:pathLst>
          </a:custGeom>
          <a:blipFill>
            <a:blip r:embed="rId8"/>
            <a:stretch>
              <a:fillRect l="0" t="0" r="0" b="0"/>
            </a:stretch>
          </a:blipFill>
        </p:spPr>
      </p:sp>
      <p:sp>
        <p:nvSpPr>
          <p:cNvPr name="Freeform 9" id="9"/>
          <p:cNvSpPr/>
          <p:nvPr/>
        </p:nvSpPr>
        <p:spPr>
          <a:xfrm flipH="false" flipV="false" rot="0">
            <a:off x="3380728" y="6302228"/>
            <a:ext cx="3327891" cy="1306843"/>
          </a:xfrm>
          <a:custGeom>
            <a:avLst/>
            <a:gdLst/>
            <a:ahLst/>
            <a:cxnLst/>
            <a:rect r="r" b="b" t="t" l="l"/>
            <a:pathLst>
              <a:path h="1306843" w="3327891">
                <a:moveTo>
                  <a:pt x="0" y="0"/>
                </a:moveTo>
                <a:lnTo>
                  <a:pt x="3327891" y="0"/>
                </a:lnTo>
                <a:lnTo>
                  <a:pt x="3327891" y="1306844"/>
                </a:lnTo>
                <a:lnTo>
                  <a:pt x="0" y="1306844"/>
                </a:lnTo>
                <a:lnTo>
                  <a:pt x="0" y="0"/>
                </a:lnTo>
                <a:close/>
              </a:path>
            </a:pathLst>
          </a:custGeom>
          <a:blipFill>
            <a:blip r:embed="rId9"/>
            <a:stretch>
              <a:fillRect l="0" t="0" r="0" b="0"/>
            </a:stretch>
          </a:blipFill>
        </p:spPr>
      </p:sp>
      <p:sp>
        <p:nvSpPr>
          <p:cNvPr name="Freeform 10" id="10"/>
          <p:cNvSpPr/>
          <p:nvPr/>
        </p:nvSpPr>
        <p:spPr>
          <a:xfrm flipH="false" flipV="false" rot="0">
            <a:off x="3380728" y="7923139"/>
            <a:ext cx="3872031" cy="2278136"/>
          </a:xfrm>
          <a:custGeom>
            <a:avLst/>
            <a:gdLst/>
            <a:ahLst/>
            <a:cxnLst/>
            <a:rect r="r" b="b" t="t" l="l"/>
            <a:pathLst>
              <a:path h="2278136" w="3872031">
                <a:moveTo>
                  <a:pt x="0" y="0"/>
                </a:moveTo>
                <a:lnTo>
                  <a:pt x="3872030" y="0"/>
                </a:lnTo>
                <a:lnTo>
                  <a:pt x="3872030" y="2278136"/>
                </a:lnTo>
                <a:lnTo>
                  <a:pt x="0" y="2278136"/>
                </a:lnTo>
                <a:lnTo>
                  <a:pt x="0" y="0"/>
                </a:lnTo>
                <a:close/>
              </a:path>
            </a:pathLst>
          </a:custGeom>
          <a:blipFill>
            <a:blip r:embed="rId10"/>
            <a:stretch>
              <a:fillRect l="0" t="-36082" r="0" b="-40504"/>
            </a:stretch>
          </a:blipFill>
        </p:spPr>
      </p:sp>
      <p:sp>
        <p:nvSpPr>
          <p:cNvPr name="TextBox 11" id="11"/>
          <p:cNvSpPr txBox="true"/>
          <p:nvPr/>
        </p:nvSpPr>
        <p:spPr>
          <a:xfrm rot="0">
            <a:off x="614662" y="1148234"/>
            <a:ext cx="7517436" cy="746345"/>
          </a:xfrm>
          <a:prstGeom prst="rect">
            <a:avLst/>
          </a:prstGeom>
        </p:spPr>
        <p:txBody>
          <a:bodyPr anchor="t" rtlCol="false" tIns="0" lIns="0" bIns="0" rIns="0">
            <a:spAutoFit/>
          </a:bodyPr>
          <a:lstStyle/>
          <a:p>
            <a:pPr algn="l">
              <a:lnSpc>
                <a:spcPts val="6112"/>
              </a:lnSpc>
            </a:pPr>
            <a:r>
              <a:rPr lang="en-US" sz="4366" b="true">
                <a:solidFill>
                  <a:srgbClr val="3B82F6"/>
                </a:solidFill>
                <a:latin typeface="Inter Bold"/>
                <a:ea typeface="Inter Bold"/>
                <a:cs typeface="Inter Bold"/>
                <a:sym typeface="Inter Bold"/>
              </a:rPr>
              <a:t>DE </a:t>
            </a:r>
            <a:r>
              <a:rPr lang="en-US" b="true" sz="4366">
                <a:solidFill>
                  <a:srgbClr val="3B82F6"/>
                </a:solidFill>
                <a:latin typeface="Inter Bold"/>
                <a:ea typeface="Inter Bold"/>
                <a:cs typeface="Inter Bold"/>
                <a:sym typeface="Inter Bold"/>
              </a:rPr>
              <a:t>LAS ACCIONES</a:t>
            </a:r>
          </a:p>
        </p:txBody>
      </p:sp>
      <p:sp>
        <p:nvSpPr>
          <p:cNvPr name="TextBox 12" id="12"/>
          <p:cNvSpPr txBox="true"/>
          <p:nvPr/>
        </p:nvSpPr>
        <p:spPr>
          <a:xfrm rot="0">
            <a:off x="681319" y="2160048"/>
            <a:ext cx="6531756" cy="514350"/>
          </a:xfrm>
          <a:prstGeom prst="rect">
            <a:avLst/>
          </a:prstGeom>
        </p:spPr>
        <p:txBody>
          <a:bodyPr anchor="t" rtlCol="false" tIns="0" lIns="0" bIns="0" rIns="0">
            <a:spAutoFit/>
          </a:bodyPr>
          <a:lstStyle/>
          <a:p>
            <a:pPr algn="l">
              <a:lnSpc>
                <a:spcPts val="4200"/>
              </a:lnSpc>
              <a:spcBef>
                <a:spcPct val="0"/>
              </a:spcBef>
            </a:pPr>
            <a:r>
              <a:rPr lang="en-US" b="true" sz="3000">
                <a:solidFill>
                  <a:srgbClr val="000000"/>
                </a:solidFill>
                <a:latin typeface="Inter Bold"/>
                <a:ea typeface="Inter Bold"/>
                <a:cs typeface="Inter Bold"/>
                <a:sym typeface="Inter Bold"/>
              </a:rPr>
              <a:t>Interpretación de Resultados</a:t>
            </a:r>
          </a:p>
        </p:txBody>
      </p:sp>
      <p:sp>
        <p:nvSpPr>
          <p:cNvPr name="TextBox 13" id="13"/>
          <p:cNvSpPr txBox="true"/>
          <p:nvPr/>
        </p:nvSpPr>
        <p:spPr>
          <a:xfrm rot="0">
            <a:off x="612840" y="2999715"/>
            <a:ext cx="6957939" cy="2470664"/>
          </a:xfrm>
          <a:prstGeom prst="rect">
            <a:avLst/>
          </a:prstGeom>
        </p:spPr>
        <p:txBody>
          <a:bodyPr anchor="t" rtlCol="false" tIns="0" lIns="0" bIns="0" rIns="0">
            <a:spAutoFit/>
          </a:bodyPr>
          <a:lstStyle/>
          <a:p>
            <a:pPr algn="l">
              <a:lnSpc>
                <a:spcPts val="2823"/>
              </a:lnSpc>
              <a:spcBef>
                <a:spcPct val="0"/>
              </a:spcBef>
            </a:pPr>
            <a:r>
              <a:rPr lang="en-US" sz="2016">
                <a:solidFill>
                  <a:srgbClr val="000000"/>
                </a:solidFill>
                <a:latin typeface="Inter"/>
                <a:ea typeface="Inter"/>
                <a:cs typeface="Inter"/>
                <a:sym typeface="Inter"/>
              </a:rPr>
              <a:t>Se ana</a:t>
            </a:r>
            <a:r>
              <a:rPr lang="en-US" sz="2016">
                <a:solidFill>
                  <a:srgbClr val="000000"/>
                </a:solidFill>
                <a:latin typeface="Inter"/>
                <a:ea typeface="Inter"/>
                <a:cs typeface="Inter"/>
                <a:sym typeface="Inter"/>
              </a:rPr>
              <a:t>lizaron los rendimientos y precios históricos de las acciones AAPL, NVDA y AMZN durante el período de estudio. Los gráficos permiten visualizar la volatilidad de cada activo y comparar la evolución de sus precios ajustados. Esta exploración inicial sirvió como base para el análisis de riesgo, correlación y optimización del portafolio mediante el modelo de Markowitz.</a:t>
            </a:r>
          </a:p>
        </p:txBody>
      </p:sp>
      <p:sp>
        <p:nvSpPr>
          <p:cNvPr name="TextBox 14" id="14"/>
          <p:cNvSpPr txBox="true"/>
          <p:nvPr/>
        </p:nvSpPr>
        <p:spPr>
          <a:xfrm rot="0">
            <a:off x="387206" y="5794229"/>
            <a:ext cx="3133142" cy="422275"/>
          </a:xfrm>
          <a:prstGeom prst="rect">
            <a:avLst/>
          </a:prstGeom>
        </p:spPr>
        <p:txBody>
          <a:bodyPr anchor="t" rtlCol="false" tIns="0" lIns="0" bIns="0" rIns="0">
            <a:spAutoFit/>
          </a:bodyPr>
          <a:lstStyle/>
          <a:p>
            <a:pPr algn="l">
              <a:lnSpc>
                <a:spcPts val="3500"/>
              </a:lnSpc>
              <a:spcBef>
                <a:spcPct val="0"/>
              </a:spcBef>
            </a:pPr>
            <a:r>
              <a:rPr lang="en-US" b="true" sz="2500">
                <a:solidFill>
                  <a:srgbClr val="000000"/>
                </a:solidFill>
                <a:latin typeface="Inter Bold"/>
                <a:ea typeface="Inter Bold"/>
                <a:cs typeface="Inter Bold"/>
                <a:sym typeface="Inter Bold"/>
              </a:rPr>
              <a:t>volumen promedio</a:t>
            </a:r>
          </a:p>
        </p:txBody>
      </p:sp>
      <p:sp>
        <p:nvSpPr>
          <p:cNvPr name="TextBox 15" id="15"/>
          <p:cNvSpPr txBox="true"/>
          <p:nvPr/>
        </p:nvSpPr>
        <p:spPr>
          <a:xfrm rot="0">
            <a:off x="3478102" y="5794229"/>
            <a:ext cx="3133142" cy="422275"/>
          </a:xfrm>
          <a:prstGeom prst="rect">
            <a:avLst/>
          </a:prstGeom>
        </p:spPr>
        <p:txBody>
          <a:bodyPr anchor="t" rtlCol="false" tIns="0" lIns="0" bIns="0" rIns="0">
            <a:spAutoFit/>
          </a:bodyPr>
          <a:lstStyle/>
          <a:p>
            <a:pPr algn="l">
              <a:lnSpc>
                <a:spcPts val="3500"/>
              </a:lnSpc>
              <a:spcBef>
                <a:spcPct val="0"/>
              </a:spcBef>
            </a:pPr>
            <a:r>
              <a:rPr lang="en-US" b="true" sz="2500">
                <a:solidFill>
                  <a:srgbClr val="000000"/>
                </a:solidFill>
                <a:latin typeface="Inter Bold"/>
                <a:ea typeface="Inter Bold"/>
                <a:cs typeface="Inter Bold"/>
                <a:sym typeface="Inter Bold"/>
              </a:rPr>
              <a:t>precio promedio</a:t>
            </a:r>
          </a:p>
        </p:txBody>
      </p:sp>
      <p:sp>
        <p:nvSpPr>
          <p:cNvPr name="TextBox 16" id="16"/>
          <p:cNvSpPr txBox="true"/>
          <p:nvPr/>
        </p:nvSpPr>
        <p:spPr>
          <a:xfrm rot="0">
            <a:off x="3380219" y="7500864"/>
            <a:ext cx="3832856" cy="422275"/>
          </a:xfrm>
          <a:prstGeom prst="rect">
            <a:avLst/>
          </a:prstGeom>
        </p:spPr>
        <p:txBody>
          <a:bodyPr anchor="t" rtlCol="false" tIns="0" lIns="0" bIns="0" rIns="0">
            <a:spAutoFit/>
          </a:bodyPr>
          <a:lstStyle/>
          <a:p>
            <a:pPr algn="l">
              <a:lnSpc>
                <a:spcPts val="3500"/>
              </a:lnSpc>
              <a:spcBef>
                <a:spcPct val="0"/>
              </a:spcBef>
            </a:pPr>
            <a:r>
              <a:rPr lang="en-US" b="true" sz="2500">
                <a:solidFill>
                  <a:srgbClr val="000000"/>
                </a:solidFill>
                <a:latin typeface="Inter Bold"/>
                <a:ea typeface="Inter Bold"/>
                <a:cs typeface="Inter Bold"/>
                <a:sym typeface="Inter Bold"/>
              </a:rPr>
              <a:t>evolucion de los precios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319166" y="1181100"/>
            <a:ext cx="991208" cy="991208"/>
          </a:xfrm>
          <a:custGeom>
            <a:avLst/>
            <a:gdLst/>
            <a:ahLst/>
            <a:cxnLst/>
            <a:rect r="r" b="b" t="t" l="l"/>
            <a:pathLst>
              <a:path h="991208" w="991208">
                <a:moveTo>
                  <a:pt x="0" y="0"/>
                </a:moveTo>
                <a:lnTo>
                  <a:pt x="991209" y="0"/>
                </a:lnTo>
                <a:lnTo>
                  <a:pt x="991209" y="991208"/>
                </a:lnTo>
                <a:lnTo>
                  <a:pt x="0" y="9912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431083" y="7053701"/>
            <a:ext cx="8277932" cy="2001434"/>
          </a:xfrm>
          <a:custGeom>
            <a:avLst/>
            <a:gdLst/>
            <a:ahLst/>
            <a:cxnLst/>
            <a:rect r="r" b="b" t="t" l="l"/>
            <a:pathLst>
              <a:path h="2001434" w="8277932">
                <a:moveTo>
                  <a:pt x="0" y="0"/>
                </a:moveTo>
                <a:lnTo>
                  <a:pt x="8277932" y="0"/>
                </a:lnTo>
                <a:lnTo>
                  <a:pt x="8277932" y="2001434"/>
                </a:lnTo>
                <a:lnTo>
                  <a:pt x="0" y="2001434"/>
                </a:lnTo>
                <a:lnTo>
                  <a:pt x="0" y="0"/>
                </a:lnTo>
                <a:close/>
              </a:path>
            </a:pathLst>
          </a:custGeom>
          <a:blipFill>
            <a:blip r:embed="rId4"/>
            <a:stretch>
              <a:fillRect l="0" t="0" r="0" b="0"/>
            </a:stretch>
          </a:blipFill>
        </p:spPr>
      </p:sp>
      <p:sp>
        <p:nvSpPr>
          <p:cNvPr name="Freeform 4" id="4"/>
          <p:cNvSpPr/>
          <p:nvPr/>
        </p:nvSpPr>
        <p:spPr>
          <a:xfrm flipH="false" flipV="false" rot="0">
            <a:off x="1677529" y="3425119"/>
            <a:ext cx="6261604" cy="6356958"/>
          </a:xfrm>
          <a:custGeom>
            <a:avLst/>
            <a:gdLst/>
            <a:ahLst/>
            <a:cxnLst/>
            <a:rect r="r" b="b" t="t" l="l"/>
            <a:pathLst>
              <a:path h="6356958" w="6261604">
                <a:moveTo>
                  <a:pt x="0" y="0"/>
                </a:moveTo>
                <a:lnTo>
                  <a:pt x="6261604" y="0"/>
                </a:lnTo>
                <a:lnTo>
                  <a:pt x="6261604" y="6356958"/>
                </a:lnTo>
                <a:lnTo>
                  <a:pt x="0" y="6356958"/>
                </a:lnTo>
                <a:lnTo>
                  <a:pt x="0" y="0"/>
                </a:lnTo>
                <a:close/>
              </a:path>
            </a:pathLst>
          </a:custGeom>
          <a:blipFill>
            <a:blip r:embed="rId5"/>
            <a:stretch>
              <a:fillRect l="0" t="0" r="0" b="0"/>
            </a:stretch>
          </a:blipFill>
        </p:spPr>
      </p:sp>
      <p:sp>
        <p:nvSpPr>
          <p:cNvPr name="TextBox 5" id="5"/>
          <p:cNvSpPr txBox="true"/>
          <p:nvPr/>
        </p:nvSpPr>
        <p:spPr>
          <a:xfrm rot="0">
            <a:off x="1181100" y="1057275"/>
            <a:ext cx="7254462" cy="1115033"/>
          </a:xfrm>
          <a:prstGeom prst="rect">
            <a:avLst/>
          </a:prstGeom>
        </p:spPr>
        <p:txBody>
          <a:bodyPr anchor="t" rtlCol="false" tIns="0" lIns="0" bIns="0" rIns="0">
            <a:spAutoFit/>
          </a:bodyPr>
          <a:lstStyle/>
          <a:p>
            <a:pPr algn="l">
              <a:lnSpc>
                <a:spcPts val="9143"/>
              </a:lnSpc>
            </a:pPr>
            <a:r>
              <a:rPr lang="en-US" sz="6531" b="true">
                <a:solidFill>
                  <a:srgbClr val="1F4FD8"/>
                </a:solidFill>
                <a:latin typeface="Inter Bold"/>
                <a:ea typeface="Inter Bold"/>
                <a:cs typeface="Inter Bold"/>
                <a:sym typeface="Inter Bold"/>
              </a:rPr>
              <a:t>CORRELACIÓN</a:t>
            </a:r>
          </a:p>
        </p:txBody>
      </p:sp>
      <p:sp>
        <p:nvSpPr>
          <p:cNvPr name="TextBox 6" id="6"/>
          <p:cNvSpPr txBox="true"/>
          <p:nvPr/>
        </p:nvSpPr>
        <p:spPr>
          <a:xfrm rot="0">
            <a:off x="1181100" y="2048483"/>
            <a:ext cx="6594375" cy="1091186"/>
          </a:xfrm>
          <a:prstGeom prst="rect">
            <a:avLst/>
          </a:prstGeom>
        </p:spPr>
        <p:txBody>
          <a:bodyPr anchor="t" rtlCol="false" tIns="0" lIns="0" bIns="0" rIns="0">
            <a:spAutoFit/>
          </a:bodyPr>
          <a:lstStyle/>
          <a:p>
            <a:pPr algn="l">
              <a:lnSpc>
                <a:spcPts val="8923"/>
              </a:lnSpc>
            </a:pPr>
            <a:r>
              <a:rPr lang="en-US" sz="6374" b="true">
                <a:solidFill>
                  <a:srgbClr val="3B82F6"/>
                </a:solidFill>
                <a:latin typeface="Inter Bold"/>
                <a:ea typeface="Inter Bold"/>
                <a:cs typeface="Inter Bold"/>
                <a:sym typeface="Inter Bold"/>
              </a:rPr>
              <a:t>ENTRE</a:t>
            </a:r>
            <a:r>
              <a:rPr lang="en-US" b="true" sz="6374">
                <a:solidFill>
                  <a:srgbClr val="3B82F6"/>
                </a:solidFill>
                <a:latin typeface="Inter Bold"/>
                <a:ea typeface="Inter Bold"/>
                <a:cs typeface="Inter Bold"/>
                <a:sym typeface="Inter Bold"/>
              </a:rPr>
              <a:t> ACTIVOS</a:t>
            </a:r>
          </a:p>
        </p:txBody>
      </p:sp>
      <p:sp>
        <p:nvSpPr>
          <p:cNvPr name="TextBox 7" id="7"/>
          <p:cNvSpPr txBox="true"/>
          <p:nvPr/>
        </p:nvSpPr>
        <p:spPr>
          <a:xfrm rot="0">
            <a:off x="9839594" y="1886558"/>
            <a:ext cx="6531756" cy="514350"/>
          </a:xfrm>
          <a:prstGeom prst="rect">
            <a:avLst/>
          </a:prstGeom>
        </p:spPr>
        <p:txBody>
          <a:bodyPr anchor="t" rtlCol="false" tIns="0" lIns="0" bIns="0" rIns="0">
            <a:spAutoFit/>
          </a:bodyPr>
          <a:lstStyle/>
          <a:p>
            <a:pPr algn="l">
              <a:lnSpc>
                <a:spcPts val="4200"/>
              </a:lnSpc>
              <a:spcBef>
                <a:spcPct val="0"/>
              </a:spcBef>
            </a:pPr>
            <a:r>
              <a:rPr lang="en-US" b="true" sz="3000">
                <a:solidFill>
                  <a:srgbClr val="000000"/>
                </a:solidFill>
                <a:latin typeface="Inter Bold"/>
                <a:ea typeface="Inter Bold"/>
                <a:cs typeface="Inter Bold"/>
                <a:sym typeface="Inter Bold"/>
              </a:rPr>
              <a:t>Interpretación de la Correlación</a:t>
            </a:r>
          </a:p>
        </p:txBody>
      </p:sp>
      <p:sp>
        <p:nvSpPr>
          <p:cNvPr name="TextBox 8" id="8"/>
          <p:cNvSpPr txBox="true"/>
          <p:nvPr/>
        </p:nvSpPr>
        <p:spPr>
          <a:xfrm rot="0">
            <a:off x="9608064" y="2697601"/>
            <a:ext cx="7304534" cy="4356100"/>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Inter"/>
                <a:ea typeface="Inter"/>
                <a:cs typeface="Inter"/>
                <a:sym typeface="Inter"/>
              </a:rPr>
              <a:t>La correlación m</a:t>
            </a:r>
            <a:r>
              <a:rPr lang="en-US" sz="2499">
                <a:solidFill>
                  <a:srgbClr val="000000"/>
                </a:solidFill>
                <a:latin typeface="Inter"/>
                <a:ea typeface="Inter"/>
                <a:cs typeface="Inter"/>
                <a:sym typeface="Inter"/>
              </a:rPr>
              <a:t>ide cómo se mueven conjuntamente dos activos financieros.</a:t>
            </a:r>
          </a:p>
          <a:p>
            <a:pPr algn="l">
              <a:lnSpc>
                <a:spcPts val="3499"/>
              </a:lnSpc>
              <a:spcBef>
                <a:spcPct val="0"/>
              </a:spcBef>
            </a:pPr>
            <a:r>
              <a:rPr lang="en-US" sz="2499">
                <a:solidFill>
                  <a:srgbClr val="000000"/>
                </a:solidFill>
                <a:latin typeface="Inter"/>
                <a:ea typeface="Inter"/>
                <a:cs typeface="Inter"/>
                <a:sym typeface="Inter"/>
              </a:rPr>
              <a:t>• +1 = Movimiento similar</a:t>
            </a:r>
          </a:p>
          <a:p>
            <a:pPr algn="l">
              <a:lnSpc>
                <a:spcPts val="3499"/>
              </a:lnSpc>
              <a:spcBef>
                <a:spcPct val="0"/>
              </a:spcBef>
            </a:pPr>
            <a:r>
              <a:rPr lang="en-US" sz="2499">
                <a:solidFill>
                  <a:srgbClr val="000000"/>
                </a:solidFill>
                <a:latin typeface="Inter"/>
                <a:ea typeface="Inter"/>
                <a:cs typeface="Inter"/>
                <a:sym typeface="Inter"/>
              </a:rPr>
              <a:t> • 0 = Independencia</a:t>
            </a:r>
          </a:p>
          <a:p>
            <a:pPr algn="l">
              <a:lnSpc>
                <a:spcPts val="3499"/>
              </a:lnSpc>
              <a:spcBef>
                <a:spcPct val="0"/>
              </a:spcBef>
            </a:pPr>
            <a:r>
              <a:rPr lang="en-US" sz="2499">
                <a:solidFill>
                  <a:srgbClr val="000000"/>
                </a:solidFill>
                <a:latin typeface="Inter"/>
                <a:ea typeface="Inter"/>
                <a:cs typeface="Inter"/>
                <a:sym typeface="Inter"/>
              </a:rPr>
              <a:t> • -1 = Movimiento opuesto</a:t>
            </a:r>
          </a:p>
          <a:p>
            <a:pPr algn="l">
              <a:lnSpc>
                <a:spcPts val="3499"/>
              </a:lnSpc>
              <a:spcBef>
                <a:spcPct val="0"/>
              </a:spcBef>
            </a:pPr>
            <a:r>
              <a:rPr lang="en-US" sz="2499">
                <a:solidFill>
                  <a:srgbClr val="000000"/>
                </a:solidFill>
                <a:latin typeface="Inter"/>
                <a:ea typeface="Inter"/>
                <a:cs typeface="Inter"/>
                <a:sym typeface="Inter"/>
              </a:rPr>
              <a:t>Los resultados obtenidos muestran correlaciones positivas entre AAPL, NVDA y AMZN, indicando que las acciones suelen moverse en la misma dirección, aunque no de manera idéntica.</a:t>
            </a:r>
          </a:p>
          <a:p>
            <a:pPr algn="l">
              <a:lnSpc>
                <a:spcPts val="3499"/>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781030" y="1229361"/>
            <a:ext cx="1116395" cy="1116395"/>
          </a:xfrm>
          <a:custGeom>
            <a:avLst/>
            <a:gdLst/>
            <a:ahLst/>
            <a:cxnLst/>
            <a:rect r="r" b="b" t="t" l="l"/>
            <a:pathLst>
              <a:path h="1116395" w="1116395">
                <a:moveTo>
                  <a:pt x="0" y="0"/>
                </a:moveTo>
                <a:lnTo>
                  <a:pt x="1116396" y="0"/>
                </a:lnTo>
                <a:lnTo>
                  <a:pt x="1116396" y="1116395"/>
                </a:lnTo>
                <a:lnTo>
                  <a:pt x="0" y="11163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44748" y="5706357"/>
            <a:ext cx="3522763" cy="3703671"/>
            <a:chOff x="0" y="0"/>
            <a:chExt cx="927806" cy="975452"/>
          </a:xfrm>
        </p:grpSpPr>
        <p:sp>
          <p:nvSpPr>
            <p:cNvPr name="Freeform 4" id="4"/>
            <p:cNvSpPr/>
            <p:nvPr/>
          </p:nvSpPr>
          <p:spPr>
            <a:xfrm flipH="false" flipV="false" rot="0">
              <a:off x="0" y="0"/>
              <a:ext cx="927806" cy="975452"/>
            </a:xfrm>
            <a:custGeom>
              <a:avLst/>
              <a:gdLst/>
              <a:ahLst/>
              <a:cxnLst/>
              <a:rect r="r" b="b" t="t" l="l"/>
              <a:pathLst>
                <a:path h="975452" w="927806">
                  <a:moveTo>
                    <a:pt x="112082" y="0"/>
                  </a:moveTo>
                  <a:lnTo>
                    <a:pt x="815724" y="0"/>
                  </a:lnTo>
                  <a:cubicBezTo>
                    <a:pt x="877625" y="0"/>
                    <a:pt x="927806" y="50181"/>
                    <a:pt x="927806" y="112082"/>
                  </a:cubicBezTo>
                  <a:lnTo>
                    <a:pt x="927806" y="863371"/>
                  </a:lnTo>
                  <a:cubicBezTo>
                    <a:pt x="927806" y="925272"/>
                    <a:pt x="877625" y="975452"/>
                    <a:pt x="815724" y="975452"/>
                  </a:cubicBezTo>
                  <a:lnTo>
                    <a:pt x="112082" y="975452"/>
                  </a:lnTo>
                  <a:cubicBezTo>
                    <a:pt x="50181" y="975452"/>
                    <a:pt x="0" y="925272"/>
                    <a:pt x="0" y="863371"/>
                  </a:cubicBezTo>
                  <a:lnTo>
                    <a:pt x="0" y="112082"/>
                  </a:lnTo>
                  <a:cubicBezTo>
                    <a:pt x="0" y="50181"/>
                    <a:pt x="50181" y="0"/>
                    <a:pt x="112082" y="0"/>
                  </a:cubicBezTo>
                  <a:close/>
                </a:path>
              </a:pathLst>
            </a:custGeom>
            <a:solidFill>
              <a:srgbClr val="3B82F6"/>
            </a:solidFill>
          </p:spPr>
        </p:sp>
        <p:sp>
          <p:nvSpPr>
            <p:cNvPr name="TextBox 5" id="5"/>
            <p:cNvSpPr txBox="true"/>
            <p:nvPr/>
          </p:nvSpPr>
          <p:spPr>
            <a:xfrm>
              <a:off x="0" y="-38100"/>
              <a:ext cx="927806" cy="1013552"/>
            </a:xfrm>
            <a:prstGeom prst="rect">
              <a:avLst/>
            </a:prstGeom>
          </p:spPr>
          <p:txBody>
            <a:bodyPr anchor="ctr" rtlCol="false" tIns="50800" lIns="50800" bIns="50800" rIns="50800"/>
            <a:lstStyle/>
            <a:p>
              <a:pPr algn="ctr">
                <a:lnSpc>
                  <a:spcPts val="3499"/>
                </a:lnSpc>
              </a:pPr>
            </a:p>
          </p:txBody>
        </p:sp>
      </p:grpSp>
      <p:grpSp>
        <p:nvGrpSpPr>
          <p:cNvPr name="Group 6" id="6"/>
          <p:cNvGrpSpPr/>
          <p:nvPr/>
        </p:nvGrpSpPr>
        <p:grpSpPr>
          <a:xfrm rot="0">
            <a:off x="5241476" y="5746607"/>
            <a:ext cx="3525048" cy="3663421"/>
            <a:chOff x="0" y="0"/>
            <a:chExt cx="928408" cy="964852"/>
          </a:xfrm>
        </p:grpSpPr>
        <p:sp>
          <p:nvSpPr>
            <p:cNvPr name="Freeform 7" id="7"/>
            <p:cNvSpPr/>
            <p:nvPr/>
          </p:nvSpPr>
          <p:spPr>
            <a:xfrm flipH="false" flipV="false" rot="0">
              <a:off x="0" y="0"/>
              <a:ext cx="928408" cy="964852"/>
            </a:xfrm>
            <a:custGeom>
              <a:avLst/>
              <a:gdLst/>
              <a:ahLst/>
              <a:cxnLst/>
              <a:rect r="r" b="b" t="t" l="l"/>
              <a:pathLst>
                <a:path h="964852" w="928408">
                  <a:moveTo>
                    <a:pt x="112009" y="0"/>
                  </a:moveTo>
                  <a:lnTo>
                    <a:pt x="816398" y="0"/>
                  </a:lnTo>
                  <a:cubicBezTo>
                    <a:pt x="846105" y="0"/>
                    <a:pt x="874595" y="11801"/>
                    <a:pt x="895601" y="32807"/>
                  </a:cubicBezTo>
                  <a:cubicBezTo>
                    <a:pt x="916607" y="53813"/>
                    <a:pt x="928408" y="82303"/>
                    <a:pt x="928408" y="112009"/>
                  </a:cubicBezTo>
                  <a:lnTo>
                    <a:pt x="928408" y="852842"/>
                  </a:lnTo>
                  <a:cubicBezTo>
                    <a:pt x="928408" y="882549"/>
                    <a:pt x="916607" y="911039"/>
                    <a:pt x="895601" y="932045"/>
                  </a:cubicBezTo>
                  <a:cubicBezTo>
                    <a:pt x="874595" y="953051"/>
                    <a:pt x="846105" y="964852"/>
                    <a:pt x="816398" y="964852"/>
                  </a:cubicBezTo>
                  <a:lnTo>
                    <a:pt x="112009" y="964852"/>
                  </a:lnTo>
                  <a:cubicBezTo>
                    <a:pt x="82303" y="964852"/>
                    <a:pt x="53813" y="953051"/>
                    <a:pt x="32807" y="932045"/>
                  </a:cubicBezTo>
                  <a:cubicBezTo>
                    <a:pt x="11801" y="911039"/>
                    <a:pt x="0" y="882549"/>
                    <a:pt x="0" y="852842"/>
                  </a:cubicBezTo>
                  <a:lnTo>
                    <a:pt x="0" y="112009"/>
                  </a:lnTo>
                  <a:cubicBezTo>
                    <a:pt x="0" y="82303"/>
                    <a:pt x="11801" y="53813"/>
                    <a:pt x="32807" y="32807"/>
                  </a:cubicBezTo>
                  <a:cubicBezTo>
                    <a:pt x="53813" y="11801"/>
                    <a:pt x="82303" y="0"/>
                    <a:pt x="112009" y="0"/>
                  </a:cubicBezTo>
                  <a:close/>
                </a:path>
              </a:pathLst>
            </a:custGeom>
            <a:solidFill>
              <a:srgbClr val="3B82F6"/>
            </a:solidFill>
          </p:spPr>
        </p:sp>
        <p:sp>
          <p:nvSpPr>
            <p:cNvPr name="TextBox 8" id="8"/>
            <p:cNvSpPr txBox="true"/>
            <p:nvPr/>
          </p:nvSpPr>
          <p:spPr>
            <a:xfrm>
              <a:off x="0" y="-38100"/>
              <a:ext cx="928408" cy="1002952"/>
            </a:xfrm>
            <a:prstGeom prst="rect">
              <a:avLst/>
            </a:prstGeom>
          </p:spPr>
          <p:txBody>
            <a:bodyPr anchor="ctr" rtlCol="false" tIns="50800" lIns="50800" bIns="50800" rIns="50800"/>
            <a:lstStyle/>
            <a:p>
              <a:pPr algn="ctr">
                <a:lnSpc>
                  <a:spcPts val="3499"/>
                </a:lnSpc>
              </a:pPr>
            </a:p>
          </p:txBody>
        </p:sp>
      </p:grpSp>
      <p:grpSp>
        <p:nvGrpSpPr>
          <p:cNvPr name="Group 9" id="9"/>
          <p:cNvGrpSpPr/>
          <p:nvPr/>
        </p:nvGrpSpPr>
        <p:grpSpPr>
          <a:xfrm rot="0">
            <a:off x="9490424" y="5786858"/>
            <a:ext cx="3646588" cy="3623171"/>
            <a:chOff x="0" y="0"/>
            <a:chExt cx="960418" cy="954251"/>
          </a:xfrm>
        </p:grpSpPr>
        <p:sp>
          <p:nvSpPr>
            <p:cNvPr name="Freeform 10" id="10"/>
            <p:cNvSpPr/>
            <p:nvPr/>
          </p:nvSpPr>
          <p:spPr>
            <a:xfrm flipH="false" flipV="false" rot="0">
              <a:off x="0" y="0"/>
              <a:ext cx="960418" cy="954251"/>
            </a:xfrm>
            <a:custGeom>
              <a:avLst/>
              <a:gdLst/>
              <a:ahLst/>
              <a:cxnLst/>
              <a:rect r="r" b="b" t="t" l="l"/>
              <a:pathLst>
                <a:path h="954251" w="960418">
                  <a:moveTo>
                    <a:pt x="108276" y="0"/>
                  </a:moveTo>
                  <a:lnTo>
                    <a:pt x="852142" y="0"/>
                  </a:lnTo>
                  <a:cubicBezTo>
                    <a:pt x="911941" y="0"/>
                    <a:pt x="960418" y="48477"/>
                    <a:pt x="960418" y="108276"/>
                  </a:cubicBezTo>
                  <a:lnTo>
                    <a:pt x="960418" y="845975"/>
                  </a:lnTo>
                  <a:cubicBezTo>
                    <a:pt x="960418" y="905774"/>
                    <a:pt x="911941" y="954251"/>
                    <a:pt x="852142" y="954251"/>
                  </a:cubicBezTo>
                  <a:lnTo>
                    <a:pt x="108276" y="954251"/>
                  </a:lnTo>
                  <a:cubicBezTo>
                    <a:pt x="48477" y="954251"/>
                    <a:pt x="0" y="905774"/>
                    <a:pt x="0" y="845975"/>
                  </a:cubicBezTo>
                  <a:lnTo>
                    <a:pt x="0" y="108276"/>
                  </a:lnTo>
                  <a:cubicBezTo>
                    <a:pt x="0" y="48477"/>
                    <a:pt x="48477" y="0"/>
                    <a:pt x="108276" y="0"/>
                  </a:cubicBezTo>
                  <a:close/>
                </a:path>
              </a:pathLst>
            </a:custGeom>
            <a:solidFill>
              <a:srgbClr val="3B82F6"/>
            </a:solidFill>
          </p:spPr>
        </p:sp>
        <p:sp>
          <p:nvSpPr>
            <p:cNvPr name="TextBox 11" id="11"/>
            <p:cNvSpPr txBox="true"/>
            <p:nvPr/>
          </p:nvSpPr>
          <p:spPr>
            <a:xfrm>
              <a:off x="0" y="-38100"/>
              <a:ext cx="960418" cy="992351"/>
            </a:xfrm>
            <a:prstGeom prst="rect">
              <a:avLst/>
            </a:prstGeom>
          </p:spPr>
          <p:txBody>
            <a:bodyPr anchor="ctr" rtlCol="false" tIns="50800" lIns="50800" bIns="50800" rIns="50800"/>
            <a:lstStyle/>
            <a:p>
              <a:pPr algn="ctr">
                <a:lnSpc>
                  <a:spcPts val="3499"/>
                </a:lnSpc>
              </a:pPr>
            </a:p>
          </p:txBody>
        </p:sp>
      </p:grpSp>
      <p:grpSp>
        <p:nvGrpSpPr>
          <p:cNvPr name="Group 12" id="12"/>
          <p:cNvGrpSpPr/>
          <p:nvPr/>
        </p:nvGrpSpPr>
        <p:grpSpPr>
          <a:xfrm rot="0">
            <a:off x="13548031" y="5786858"/>
            <a:ext cx="3646588" cy="3623171"/>
            <a:chOff x="0" y="0"/>
            <a:chExt cx="960418" cy="954251"/>
          </a:xfrm>
        </p:grpSpPr>
        <p:sp>
          <p:nvSpPr>
            <p:cNvPr name="Freeform 13" id="13"/>
            <p:cNvSpPr/>
            <p:nvPr/>
          </p:nvSpPr>
          <p:spPr>
            <a:xfrm flipH="false" flipV="false" rot="0">
              <a:off x="0" y="0"/>
              <a:ext cx="960418" cy="954251"/>
            </a:xfrm>
            <a:custGeom>
              <a:avLst/>
              <a:gdLst/>
              <a:ahLst/>
              <a:cxnLst/>
              <a:rect r="r" b="b" t="t" l="l"/>
              <a:pathLst>
                <a:path h="954251" w="960418">
                  <a:moveTo>
                    <a:pt x="108276" y="0"/>
                  </a:moveTo>
                  <a:lnTo>
                    <a:pt x="852142" y="0"/>
                  </a:lnTo>
                  <a:cubicBezTo>
                    <a:pt x="911941" y="0"/>
                    <a:pt x="960418" y="48477"/>
                    <a:pt x="960418" y="108276"/>
                  </a:cubicBezTo>
                  <a:lnTo>
                    <a:pt x="960418" y="845975"/>
                  </a:lnTo>
                  <a:cubicBezTo>
                    <a:pt x="960418" y="905774"/>
                    <a:pt x="911941" y="954251"/>
                    <a:pt x="852142" y="954251"/>
                  </a:cubicBezTo>
                  <a:lnTo>
                    <a:pt x="108276" y="954251"/>
                  </a:lnTo>
                  <a:cubicBezTo>
                    <a:pt x="48477" y="954251"/>
                    <a:pt x="0" y="905774"/>
                    <a:pt x="0" y="845975"/>
                  </a:cubicBezTo>
                  <a:lnTo>
                    <a:pt x="0" y="108276"/>
                  </a:lnTo>
                  <a:cubicBezTo>
                    <a:pt x="0" y="48477"/>
                    <a:pt x="48477" y="0"/>
                    <a:pt x="108276" y="0"/>
                  </a:cubicBezTo>
                  <a:close/>
                </a:path>
              </a:pathLst>
            </a:custGeom>
            <a:solidFill>
              <a:srgbClr val="3B82F6"/>
            </a:solidFill>
          </p:spPr>
        </p:sp>
        <p:sp>
          <p:nvSpPr>
            <p:cNvPr name="TextBox 14" id="14"/>
            <p:cNvSpPr txBox="true"/>
            <p:nvPr/>
          </p:nvSpPr>
          <p:spPr>
            <a:xfrm>
              <a:off x="0" y="-38100"/>
              <a:ext cx="960418" cy="992351"/>
            </a:xfrm>
            <a:prstGeom prst="rect">
              <a:avLst/>
            </a:prstGeom>
          </p:spPr>
          <p:txBody>
            <a:bodyPr anchor="ctr" rtlCol="false" tIns="50800" lIns="50800" bIns="50800" rIns="50800"/>
            <a:lstStyle/>
            <a:p>
              <a:pPr algn="ctr">
                <a:lnSpc>
                  <a:spcPts val="3499"/>
                </a:lnSpc>
              </a:pPr>
            </a:p>
          </p:txBody>
        </p:sp>
      </p:grpSp>
      <p:grpSp>
        <p:nvGrpSpPr>
          <p:cNvPr name="Group 15" id="15"/>
          <p:cNvGrpSpPr/>
          <p:nvPr/>
        </p:nvGrpSpPr>
        <p:grpSpPr>
          <a:xfrm rot="0">
            <a:off x="2653763" y="4703971"/>
            <a:ext cx="794924" cy="794924"/>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D4BF"/>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3499"/>
                </a:lnSpc>
              </a:pPr>
            </a:p>
          </p:txBody>
        </p:sp>
      </p:grpSp>
      <p:grpSp>
        <p:nvGrpSpPr>
          <p:cNvPr name="Group 18" id="18"/>
          <p:cNvGrpSpPr/>
          <p:nvPr/>
        </p:nvGrpSpPr>
        <p:grpSpPr>
          <a:xfrm rot="0">
            <a:off x="6517715" y="4703971"/>
            <a:ext cx="794924" cy="794924"/>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D4BF"/>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3499"/>
                </a:lnSpc>
              </a:pPr>
            </a:p>
          </p:txBody>
        </p:sp>
      </p:grpSp>
      <p:grpSp>
        <p:nvGrpSpPr>
          <p:cNvPr name="Group 21" id="21"/>
          <p:cNvGrpSpPr/>
          <p:nvPr/>
        </p:nvGrpSpPr>
        <p:grpSpPr>
          <a:xfrm rot="0">
            <a:off x="10912180" y="4703971"/>
            <a:ext cx="794924" cy="794924"/>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D4BF"/>
            </a:soli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3499"/>
                </a:lnSpc>
              </a:pPr>
            </a:p>
          </p:txBody>
        </p:sp>
      </p:grpSp>
      <p:grpSp>
        <p:nvGrpSpPr>
          <p:cNvPr name="Group 24" id="24"/>
          <p:cNvGrpSpPr/>
          <p:nvPr/>
        </p:nvGrpSpPr>
        <p:grpSpPr>
          <a:xfrm rot="0">
            <a:off x="15046937" y="4746038"/>
            <a:ext cx="794924" cy="794924"/>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D4BF"/>
            </a:soli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a:lnSpc>
                  <a:spcPts val="3499"/>
                </a:lnSpc>
              </a:pPr>
            </a:p>
          </p:txBody>
        </p:sp>
      </p:grpSp>
      <p:sp>
        <p:nvSpPr>
          <p:cNvPr name="Freeform 27" id="27"/>
          <p:cNvSpPr/>
          <p:nvPr/>
        </p:nvSpPr>
        <p:spPr>
          <a:xfrm flipH="false" flipV="false" rot="0">
            <a:off x="15436006" y="2918353"/>
            <a:ext cx="3162354" cy="2225147"/>
          </a:xfrm>
          <a:custGeom>
            <a:avLst/>
            <a:gdLst/>
            <a:ahLst/>
            <a:cxnLst/>
            <a:rect r="r" b="b" t="t" l="l"/>
            <a:pathLst>
              <a:path h="2225147" w="3162354">
                <a:moveTo>
                  <a:pt x="0" y="0"/>
                </a:moveTo>
                <a:lnTo>
                  <a:pt x="3162353" y="0"/>
                </a:lnTo>
                <a:lnTo>
                  <a:pt x="3162353" y="2225147"/>
                </a:lnTo>
                <a:lnTo>
                  <a:pt x="0" y="22251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8" id="28"/>
          <p:cNvSpPr/>
          <p:nvPr/>
        </p:nvSpPr>
        <p:spPr>
          <a:xfrm flipH="false" flipV="false" rot="0">
            <a:off x="5808918" y="7049252"/>
            <a:ext cx="2640099" cy="506899"/>
          </a:xfrm>
          <a:custGeom>
            <a:avLst/>
            <a:gdLst/>
            <a:ahLst/>
            <a:cxnLst/>
            <a:rect r="r" b="b" t="t" l="l"/>
            <a:pathLst>
              <a:path h="506899" w="2640099">
                <a:moveTo>
                  <a:pt x="0" y="0"/>
                </a:moveTo>
                <a:lnTo>
                  <a:pt x="2640099" y="0"/>
                </a:lnTo>
                <a:lnTo>
                  <a:pt x="2640099" y="506899"/>
                </a:lnTo>
                <a:lnTo>
                  <a:pt x="0" y="506899"/>
                </a:lnTo>
                <a:lnTo>
                  <a:pt x="0" y="0"/>
                </a:lnTo>
                <a:close/>
              </a:path>
            </a:pathLst>
          </a:custGeom>
          <a:blipFill>
            <a:blip r:embed="rId6"/>
            <a:stretch>
              <a:fillRect l="0" t="0" r="0" b="0"/>
            </a:stretch>
          </a:blipFill>
        </p:spPr>
      </p:sp>
      <p:sp>
        <p:nvSpPr>
          <p:cNvPr name="Freeform 29" id="29"/>
          <p:cNvSpPr/>
          <p:nvPr/>
        </p:nvSpPr>
        <p:spPr>
          <a:xfrm flipH="false" flipV="false" rot="0">
            <a:off x="10275688" y="6674985"/>
            <a:ext cx="2197284" cy="693879"/>
          </a:xfrm>
          <a:custGeom>
            <a:avLst/>
            <a:gdLst/>
            <a:ahLst/>
            <a:cxnLst/>
            <a:rect r="r" b="b" t="t" l="l"/>
            <a:pathLst>
              <a:path h="693879" w="2197284">
                <a:moveTo>
                  <a:pt x="0" y="0"/>
                </a:moveTo>
                <a:lnTo>
                  <a:pt x="2197285" y="0"/>
                </a:lnTo>
                <a:lnTo>
                  <a:pt x="2197285" y="693879"/>
                </a:lnTo>
                <a:lnTo>
                  <a:pt x="0" y="693879"/>
                </a:lnTo>
                <a:lnTo>
                  <a:pt x="0" y="0"/>
                </a:lnTo>
                <a:close/>
              </a:path>
            </a:pathLst>
          </a:custGeom>
          <a:blipFill>
            <a:blip r:embed="rId7"/>
            <a:stretch>
              <a:fillRect l="0" t="0" r="0" b="0"/>
            </a:stretch>
          </a:blipFill>
        </p:spPr>
      </p:sp>
      <p:sp>
        <p:nvSpPr>
          <p:cNvPr name="TextBox 30" id="30"/>
          <p:cNvSpPr txBox="true"/>
          <p:nvPr/>
        </p:nvSpPr>
        <p:spPr>
          <a:xfrm rot="0">
            <a:off x="1028700" y="847725"/>
            <a:ext cx="11107392" cy="1698626"/>
          </a:xfrm>
          <a:prstGeom prst="rect">
            <a:avLst/>
          </a:prstGeom>
        </p:spPr>
        <p:txBody>
          <a:bodyPr anchor="t" rtlCol="false" tIns="0" lIns="0" bIns="0" rIns="0">
            <a:spAutoFit/>
          </a:bodyPr>
          <a:lstStyle/>
          <a:p>
            <a:pPr algn="l">
              <a:lnSpc>
                <a:spcPts val="13999"/>
              </a:lnSpc>
            </a:pPr>
            <a:r>
              <a:rPr lang="en-US" sz="9999" b="true">
                <a:solidFill>
                  <a:srgbClr val="1F4FD8"/>
                </a:solidFill>
                <a:latin typeface="Inter Bold"/>
                <a:ea typeface="Inter Bold"/>
                <a:cs typeface="Inter Bold"/>
                <a:sym typeface="Inter Bold"/>
              </a:rPr>
              <a:t>MODELO</a:t>
            </a:r>
          </a:p>
        </p:txBody>
      </p:sp>
      <p:sp>
        <p:nvSpPr>
          <p:cNvPr name="TextBox 31" id="31"/>
          <p:cNvSpPr txBox="true"/>
          <p:nvPr/>
        </p:nvSpPr>
        <p:spPr>
          <a:xfrm rot="0">
            <a:off x="1028700" y="2365442"/>
            <a:ext cx="10345630" cy="1698626"/>
          </a:xfrm>
          <a:prstGeom prst="rect">
            <a:avLst/>
          </a:prstGeom>
        </p:spPr>
        <p:txBody>
          <a:bodyPr anchor="t" rtlCol="false" tIns="0" lIns="0" bIns="0" rIns="0">
            <a:spAutoFit/>
          </a:bodyPr>
          <a:lstStyle/>
          <a:p>
            <a:pPr algn="l">
              <a:lnSpc>
                <a:spcPts val="13999"/>
              </a:lnSpc>
            </a:pPr>
            <a:r>
              <a:rPr lang="en-US" sz="9999" b="true">
                <a:solidFill>
                  <a:srgbClr val="3B82F6"/>
                </a:solidFill>
                <a:latin typeface="Inter Bold"/>
                <a:ea typeface="Inter Bold"/>
                <a:cs typeface="Inter Bold"/>
                <a:sym typeface="Inter Bold"/>
              </a:rPr>
              <a:t>DE</a:t>
            </a:r>
            <a:r>
              <a:rPr lang="en-US" b="true" sz="9999">
                <a:solidFill>
                  <a:srgbClr val="3B82F6"/>
                </a:solidFill>
                <a:latin typeface="Inter Bold"/>
                <a:ea typeface="Inter Bold"/>
                <a:cs typeface="Inter Bold"/>
                <a:sym typeface="Inter Bold"/>
              </a:rPr>
              <a:t> MARKOWITZ</a:t>
            </a:r>
          </a:p>
        </p:txBody>
      </p:sp>
      <p:sp>
        <p:nvSpPr>
          <p:cNvPr name="TextBox 32" id="32"/>
          <p:cNvSpPr txBox="true"/>
          <p:nvPr/>
        </p:nvSpPr>
        <p:spPr>
          <a:xfrm rot="0">
            <a:off x="1496967" y="6219374"/>
            <a:ext cx="3108515" cy="3479800"/>
          </a:xfrm>
          <a:prstGeom prst="rect">
            <a:avLst/>
          </a:prstGeom>
        </p:spPr>
        <p:txBody>
          <a:bodyPr anchor="t" rtlCol="false" tIns="0" lIns="0" bIns="0" rIns="0">
            <a:spAutoFit/>
          </a:bodyPr>
          <a:lstStyle/>
          <a:p>
            <a:pPr algn="ctr">
              <a:lnSpc>
                <a:spcPts val="3499"/>
              </a:lnSpc>
            </a:pPr>
            <a:r>
              <a:rPr lang="en-US" sz="2499">
                <a:solidFill>
                  <a:srgbClr val="F3F6FB"/>
                </a:solidFill>
                <a:latin typeface="Inter"/>
                <a:ea typeface="Inter"/>
                <a:cs typeface="Inter"/>
                <a:sym typeface="Inter"/>
              </a:rPr>
              <a:t>Objetivo</a:t>
            </a:r>
          </a:p>
          <a:p>
            <a:pPr algn="ctr">
              <a:lnSpc>
                <a:spcPts val="3499"/>
              </a:lnSpc>
              <a:spcBef>
                <a:spcPct val="0"/>
              </a:spcBef>
            </a:pPr>
            <a:r>
              <a:rPr lang="en-US" sz="2499">
                <a:solidFill>
                  <a:srgbClr val="F3F6FB"/>
                </a:solidFill>
                <a:latin typeface="Inter"/>
                <a:ea typeface="Inter"/>
                <a:cs typeface="Inter"/>
                <a:sym typeface="Inter"/>
              </a:rPr>
              <a:t>Encontrar la combinación óptima d</a:t>
            </a:r>
            <a:r>
              <a:rPr lang="en-US" sz="2499">
                <a:solidFill>
                  <a:srgbClr val="F3F6FB"/>
                </a:solidFill>
                <a:latin typeface="Inter"/>
                <a:ea typeface="Inter"/>
                <a:cs typeface="Inter"/>
                <a:sym typeface="Inter"/>
              </a:rPr>
              <a:t>e activos que maximice el retorno para un nivel dado de riesgo.</a:t>
            </a:r>
          </a:p>
          <a:p>
            <a:pPr algn="ctr">
              <a:lnSpc>
                <a:spcPts val="3499"/>
              </a:lnSpc>
              <a:spcBef>
                <a:spcPct val="0"/>
              </a:spcBef>
            </a:pPr>
          </a:p>
        </p:txBody>
      </p:sp>
      <p:sp>
        <p:nvSpPr>
          <p:cNvPr name="TextBox 33" id="33"/>
          <p:cNvSpPr txBox="true"/>
          <p:nvPr/>
        </p:nvSpPr>
        <p:spPr>
          <a:xfrm rot="0">
            <a:off x="5241476" y="6013652"/>
            <a:ext cx="3394368" cy="1289050"/>
          </a:xfrm>
          <a:prstGeom prst="rect">
            <a:avLst/>
          </a:prstGeom>
        </p:spPr>
        <p:txBody>
          <a:bodyPr anchor="t" rtlCol="false" tIns="0" lIns="0" bIns="0" rIns="0">
            <a:spAutoFit/>
          </a:bodyPr>
          <a:lstStyle/>
          <a:p>
            <a:pPr algn="ctr">
              <a:lnSpc>
                <a:spcPts val="3499"/>
              </a:lnSpc>
            </a:pPr>
            <a:r>
              <a:rPr lang="en-US" sz="2499">
                <a:solidFill>
                  <a:srgbClr val="F3F6FB"/>
                </a:solidFill>
                <a:latin typeface="Inter"/>
                <a:ea typeface="Inter"/>
                <a:cs typeface="Inter"/>
                <a:sym typeface="Inter"/>
              </a:rPr>
              <a:t>Retorno Esperado</a:t>
            </a:r>
          </a:p>
          <a:p>
            <a:pPr algn="ctr">
              <a:lnSpc>
                <a:spcPts val="3499"/>
              </a:lnSpc>
              <a:spcBef>
                <a:spcPct val="0"/>
              </a:spcBef>
            </a:pPr>
            <a:r>
              <a:rPr lang="en-US" sz="2499">
                <a:solidFill>
                  <a:srgbClr val="F3F6FB"/>
                </a:solidFill>
                <a:latin typeface="Inter"/>
                <a:ea typeface="Inter"/>
                <a:cs typeface="Inter"/>
                <a:sym typeface="Inter"/>
              </a:rPr>
              <a:t> portafolio.</a:t>
            </a:r>
          </a:p>
          <a:p>
            <a:pPr algn="ctr">
              <a:lnSpc>
                <a:spcPts val="3499"/>
              </a:lnSpc>
              <a:spcBef>
                <a:spcPct val="0"/>
              </a:spcBef>
            </a:pPr>
          </a:p>
        </p:txBody>
      </p:sp>
      <p:sp>
        <p:nvSpPr>
          <p:cNvPr name="TextBox 34" id="34"/>
          <p:cNvSpPr txBox="true"/>
          <p:nvPr/>
        </p:nvSpPr>
        <p:spPr>
          <a:xfrm rot="0">
            <a:off x="9616534" y="6072906"/>
            <a:ext cx="3394368" cy="412750"/>
          </a:xfrm>
          <a:prstGeom prst="rect">
            <a:avLst/>
          </a:prstGeom>
        </p:spPr>
        <p:txBody>
          <a:bodyPr anchor="t" rtlCol="false" tIns="0" lIns="0" bIns="0" rIns="0">
            <a:spAutoFit/>
          </a:bodyPr>
          <a:lstStyle/>
          <a:p>
            <a:pPr algn="ctr">
              <a:lnSpc>
                <a:spcPts val="3499"/>
              </a:lnSpc>
              <a:spcBef>
                <a:spcPct val="0"/>
              </a:spcBef>
            </a:pPr>
            <a:r>
              <a:rPr lang="en-US" sz="2499">
                <a:solidFill>
                  <a:srgbClr val="F3F6FB"/>
                </a:solidFill>
                <a:latin typeface="Inter"/>
                <a:ea typeface="Inter"/>
                <a:cs typeface="Inter"/>
                <a:sym typeface="Inter"/>
              </a:rPr>
              <a:t>Riesgo del Portafo</a:t>
            </a:r>
            <a:r>
              <a:rPr lang="en-US" sz="2499">
                <a:solidFill>
                  <a:srgbClr val="F3F6FB"/>
                </a:solidFill>
                <a:latin typeface="Inter"/>
                <a:ea typeface="Inter"/>
                <a:cs typeface="Inter"/>
                <a:sym typeface="Inter"/>
              </a:rPr>
              <a:t>lio</a:t>
            </a:r>
          </a:p>
        </p:txBody>
      </p:sp>
      <p:sp>
        <p:nvSpPr>
          <p:cNvPr name="TextBox 35" id="35"/>
          <p:cNvSpPr txBox="true"/>
          <p:nvPr/>
        </p:nvSpPr>
        <p:spPr>
          <a:xfrm rot="0">
            <a:off x="13871616" y="6013652"/>
            <a:ext cx="3145567" cy="3466513"/>
          </a:xfrm>
          <a:prstGeom prst="rect">
            <a:avLst/>
          </a:prstGeom>
        </p:spPr>
        <p:txBody>
          <a:bodyPr anchor="t" rtlCol="false" tIns="0" lIns="0" bIns="0" rIns="0">
            <a:spAutoFit/>
          </a:bodyPr>
          <a:lstStyle/>
          <a:p>
            <a:pPr algn="ctr">
              <a:lnSpc>
                <a:spcPts val="3092"/>
              </a:lnSpc>
            </a:pPr>
            <a:r>
              <a:rPr lang="en-US" sz="2209">
                <a:solidFill>
                  <a:srgbClr val="F3F6FB"/>
                </a:solidFill>
                <a:latin typeface="Inter"/>
                <a:ea typeface="Inter"/>
                <a:cs typeface="Inter"/>
                <a:sym typeface="Inter"/>
              </a:rPr>
              <a:t>Variables Utilizadas</a:t>
            </a:r>
          </a:p>
          <a:p>
            <a:pPr algn="ctr">
              <a:lnSpc>
                <a:spcPts val="3092"/>
              </a:lnSpc>
            </a:pPr>
            <a:r>
              <a:rPr lang="en-US" sz="2209">
                <a:solidFill>
                  <a:srgbClr val="F3F6FB"/>
                </a:solidFill>
                <a:latin typeface="Inter"/>
                <a:ea typeface="Inter"/>
                <a:cs typeface="Inter"/>
                <a:sym typeface="Inter"/>
              </a:rPr>
              <a:t>• w = pesos de inversión</a:t>
            </a:r>
          </a:p>
          <a:p>
            <a:pPr algn="ctr">
              <a:lnSpc>
                <a:spcPts val="3092"/>
              </a:lnSpc>
            </a:pPr>
            <a:r>
              <a:rPr lang="en-US" sz="2209">
                <a:solidFill>
                  <a:srgbClr val="F3F6FB"/>
                </a:solidFill>
                <a:latin typeface="Inter"/>
                <a:ea typeface="Inter"/>
                <a:cs typeface="Inter"/>
                <a:sym typeface="Inter"/>
              </a:rPr>
              <a:t>• Σ = matriz de covarianzas</a:t>
            </a:r>
          </a:p>
          <a:p>
            <a:pPr algn="ctr">
              <a:lnSpc>
                <a:spcPts val="3092"/>
              </a:lnSpc>
              <a:spcBef>
                <a:spcPct val="0"/>
              </a:spcBef>
            </a:pPr>
            <a:r>
              <a:rPr lang="en-US" sz="2209">
                <a:solidFill>
                  <a:srgbClr val="F3F6FB"/>
                </a:solidFill>
                <a:latin typeface="Inter"/>
                <a:ea typeface="Inter"/>
                <a:cs typeface="Inter"/>
                <a:sym typeface="Inter"/>
              </a:rPr>
              <a:t>• R</a:t>
            </a:r>
            <a:r>
              <a:rPr lang="en-US" sz="2209">
                <a:solidFill>
                  <a:srgbClr val="F3F6FB"/>
                </a:solidFill>
                <a:latin typeface="Inter"/>
                <a:ea typeface="Inter"/>
                <a:cs typeface="Inter"/>
                <a:sym typeface="Inter"/>
              </a:rPr>
              <a:t>etornos históricos de AAPL, NVDA y AMZN</a:t>
            </a:r>
          </a:p>
          <a:p>
            <a:pPr algn="ctr">
              <a:lnSpc>
                <a:spcPts val="3092"/>
              </a:lnSpc>
              <a:spcBef>
                <a:spcPct val="0"/>
              </a:spcBef>
            </a:pPr>
          </a:p>
        </p:txBody>
      </p:sp>
      <p:sp>
        <p:nvSpPr>
          <p:cNvPr name="TextBox 36" id="36"/>
          <p:cNvSpPr txBox="true"/>
          <p:nvPr/>
        </p:nvSpPr>
        <p:spPr>
          <a:xfrm rot="0">
            <a:off x="2718444" y="4723641"/>
            <a:ext cx="665562" cy="679384"/>
          </a:xfrm>
          <a:prstGeom prst="rect">
            <a:avLst/>
          </a:prstGeom>
        </p:spPr>
        <p:txBody>
          <a:bodyPr anchor="t" rtlCol="false" tIns="0" lIns="0" bIns="0" rIns="0">
            <a:spAutoFit/>
          </a:bodyPr>
          <a:lstStyle/>
          <a:p>
            <a:pPr algn="ctr">
              <a:lnSpc>
                <a:spcPts val="5599"/>
              </a:lnSpc>
            </a:pPr>
            <a:r>
              <a:rPr lang="en-US" b="true" sz="3999">
                <a:solidFill>
                  <a:srgbClr val="F3F6FB"/>
                </a:solidFill>
                <a:latin typeface="Inter Bold"/>
                <a:ea typeface="Inter Bold"/>
                <a:cs typeface="Inter Bold"/>
                <a:sym typeface="Inter Bold"/>
              </a:rPr>
              <a:t>1</a:t>
            </a:r>
          </a:p>
        </p:txBody>
      </p:sp>
      <p:sp>
        <p:nvSpPr>
          <p:cNvPr name="TextBox 37" id="37"/>
          <p:cNvSpPr txBox="true"/>
          <p:nvPr/>
        </p:nvSpPr>
        <p:spPr>
          <a:xfrm rot="0">
            <a:off x="6582396" y="4723641"/>
            <a:ext cx="665562" cy="679384"/>
          </a:xfrm>
          <a:prstGeom prst="rect">
            <a:avLst/>
          </a:prstGeom>
        </p:spPr>
        <p:txBody>
          <a:bodyPr anchor="t" rtlCol="false" tIns="0" lIns="0" bIns="0" rIns="0">
            <a:spAutoFit/>
          </a:bodyPr>
          <a:lstStyle/>
          <a:p>
            <a:pPr algn="ctr">
              <a:lnSpc>
                <a:spcPts val="5599"/>
              </a:lnSpc>
            </a:pPr>
            <a:r>
              <a:rPr lang="en-US" b="true" sz="3999">
                <a:solidFill>
                  <a:srgbClr val="F3F6FB"/>
                </a:solidFill>
                <a:latin typeface="Inter Bold"/>
                <a:ea typeface="Inter Bold"/>
                <a:cs typeface="Inter Bold"/>
                <a:sym typeface="Inter Bold"/>
              </a:rPr>
              <a:t>2</a:t>
            </a:r>
          </a:p>
        </p:txBody>
      </p:sp>
      <p:sp>
        <p:nvSpPr>
          <p:cNvPr name="TextBox 38" id="38"/>
          <p:cNvSpPr txBox="true"/>
          <p:nvPr/>
        </p:nvSpPr>
        <p:spPr>
          <a:xfrm rot="0">
            <a:off x="10976861" y="4723641"/>
            <a:ext cx="665562" cy="679450"/>
          </a:xfrm>
          <a:prstGeom prst="rect">
            <a:avLst/>
          </a:prstGeom>
        </p:spPr>
        <p:txBody>
          <a:bodyPr anchor="t" rtlCol="false" tIns="0" lIns="0" bIns="0" rIns="0">
            <a:spAutoFit/>
          </a:bodyPr>
          <a:lstStyle/>
          <a:p>
            <a:pPr algn="ctr">
              <a:lnSpc>
                <a:spcPts val="5599"/>
              </a:lnSpc>
            </a:pPr>
            <a:r>
              <a:rPr lang="en-US" b="true" sz="3999">
                <a:solidFill>
                  <a:srgbClr val="F3F6FB"/>
                </a:solidFill>
                <a:latin typeface="Inter Bold"/>
                <a:ea typeface="Inter Bold"/>
                <a:cs typeface="Inter Bold"/>
                <a:sym typeface="Inter Bold"/>
              </a:rPr>
              <a:t>3</a:t>
            </a:r>
          </a:p>
        </p:txBody>
      </p:sp>
      <p:sp>
        <p:nvSpPr>
          <p:cNvPr name="TextBox 39" id="39"/>
          <p:cNvSpPr txBox="true"/>
          <p:nvPr/>
        </p:nvSpPr>
        <p:spPr>
          <a:xfrm rot="0">
            <a:off x="15111618" y="4819511"/>
            <a:ext cx="665562" cy="679384"/>
          </a:xfrm>
          <a:prstGeom prst="rect">
            <a:avLst/>
          </a:prstGeom>
        </p:spPr>
        <p:txBody>
          <a:bodyPr anchor="t" rtlCol="false" tIns="0" lIns="0" bIns="0" rIns="0">
            <a:spAutoFit/>
          </a:bodyPr>
          <a:lstStyle/>
          <a:p>
            <a:pPr algn="ctr">
              <a:lnSpc>
                <a:spcPts val="5599"/>
              </a:lnSpc>
            </a:pPr>
            <a:r>
              <a:rPr lang="en-US" b="true" sz="3999">
                <a:solidFill>
                  <a:srgbClr val="F3F6FB"/>
                </a:solidFill>
                <a:latin typeface="Inter Bold"/>
                <a:ea typeface="Inter Bold"/>
                <a:cs typeface="Inter Bold"/>
                <a:sym typeface="Inter Bold"/>
              </a:rPr>
              <a:t>4</a:t>
            </a:r>
          </a:p>
        </p:txBody>
      </p:sp>
      <p:sp>
        <p:nvSpPr>
          <p:cNvPr name="TextBox 40" id="40"/>
          <p:cNvSpPr txBox="true"/>
          <p:nvPr/>
        </p:nvSpPr>
        <p:spPr>
          <a:xfrm rot="0">
            <a:off x="5340139" y="7580263"/>
            <a:ext cx="3197043" cy="1638532"/>
          </a:xfrm>
          <a:prstGeom prst="rect">
            <a:avLst/>
          </a:prstGeom>
        </p:spPr>
        <p:txBody>
          <a:bodyPr anchor="t" rtlCol="false" tIns="0" lIns="0" bIns="0" rIns="0">
            <a:spAutoFit/>
          </a:bodyPr>
          <a:lstStyle/>
          <a:p>
            <a:pPr algn="ctr">
              <a:lnSpc>
                <a:spcPts val="3296"/>
              </a:lnSpc>
              <a:spcBef>
                <a:spcPct val="0"/>
              </a:spcBef>
            </a:pPr>
            <a:r>
              <a:rPr lang="en-US" sz="2354">
                <a:solidFill>
                  <a:srgbClr val="F3F6FB"/>
                </a:solidFill>
                <a:latin typeface="Inter"/>
                <a:ea typeface="Inter"/>
                <a:cs typeface="Inter"/>
                <a:sym typeface="Inter"/>
              </a:rPr>
              <a:t>Combina los retornos esperados de cada activo según su peso dentro del</a:t>
            </a:r>
            <a:r>
              <a:rPr lang="en-US" sz="2354">
                <a:solidFill>
                  <a:srgbClr val="F3F6FB"/>
                </a:solidFill>
                <a:latin typeface="Inter"/>
                <a:ea typeface="Inter"/>
                <a:cs typeface="Inter"/>
                <a:sym typeface="Inter"/>
              </a:rPr>
              <a:t> portafolio.</a:t>
            </a:r>
          </a:p>
        </p:txBody>
      </p:sp>
      <p:sp>
        <p:nvSpPr>
          <p:cNvPr name="TextBox 41" id="41"/>
          <p:cNvSpPr txBox="true"/>
          <p:nvPr/>
        </p:nvSpPr>
        <p:spPr>
          <a:xfrm rot="0">
            <a:off x="9775809" y="7510568"/>
            <a:ext cx="3197043" cy="1638532"/>
          </a:xfrm>
          <a:prstGeom prst="rect">
            <a:avLst/>
          </a:prstGeom>
        </p:spPr>
        <p:txBody>
          <a:bodyPr anchor="t" rtlCol="false" tIns="0" lIns="0" bIns="0" rIns="0">
            <a:spAutoFit/>
          </a:bodyPr>
          <a:lstStyle/>
          <a:p>
            <a:pPr algn="ctr">
              <a:lnSpc>
                <a:spcPts val="3296"/>
              </a:lnSpc>
              <a:spcBef>
                <a:spcPct val="0"/>
              </a:spcBef>
            </a:pPr>
            <a:r>
              <a:rPr lang="en-US" sz="2354">
                <a:solidFill>
                  <a:srgbClr val="F3F6FB"/>
                </a:solidFill>
                <a:latin typeface="Inter"/>
                <a:ea typeface="Inter"/>
                <a:cs typeface="Inter"/>
                <a:sym typeface="Inter"/>
              </a:rPr>
              <a:t>Considera tanto la volatilidad individual como la relación entre los</a:t>
            </a:r>
            <a:r>
              <a:rPr lang="en-US" sz="2354">
                <a:solidFill>
                  <a:srgbClr val="F3F6FB"/>
                </a:solidFill>
                <a:latin typeface="Inter"/>
                <a:ea typeface="Inter"/>
                <a:cs typeface="Inter"/>
                <a:sym typeface="Inter"/>
              </a:rPr>
              <a:t> activos.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39676" y="1028700"/>
            <a:ext cx="1116395" cy="1116395"/>
          </a:xfrm>
          <a:custGeom>
            <a:avLst/>
            <a:gdLst/>
            <a:ahLst/>
            <a:cxnLst/>
            <a:rect r="r" b="b" t="t" l="l"/>
            <a:pathLst>
              <a:path h="1116395" w="1116395">
                <a:moveTo>
                  <a:pt x="0" y="0"/>
                </a:moveTo>
                <a:lnTo>
                  <a:pt x="1116396" y="0"/>
                </a:lnTo>
                <a:lnTo>
                  <a:pt x="1116396" y="1116395"/>
                </a:lnTo>
                <a:lnTo>
                  <a:pt x="0" y="11163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560456" y="3602714"/>
            <a:ext cx="5546308" cy="5019409"/>
          </a:xfrm>
          <a:custGeom>
            <a:avLst/>
            <a:gdLst/>
            <a:ahLst/>
            <a:cxnLst/>
            <a:rect r="r" b="b" t="t" l="l"/>
            <a:pathLst>
              <a:path h="5019409" w="5546308">
                <a:moveTo>
                  <a:pt x="0" y="0"/>
                </a:moveTo>
                <a:lnTo>
                  <a:pt x="5546308" y="0"/>
                </a:lnTo>
                <a:lnTo>
                  <a:pt x="5546308" y="5019408"/>
                </a:lnTo>
                <a:lnTo>
                  <a:pt x="0" y="5019408"/>
                </a:lnTo>
                <a:lnTo>
                  <a:pt x="0" y="0"/>
                </a:lnTo>
                <a:close/>
              </a:path>
            </a:pathLst>
          </a:custGeom>
          <a:blipFill>
            <a:blip r:embed="rId4"/>
            <a:stretch>
              <a:fillRect l="0" t="0" r="0" b="0"/>
            </a:stretch>
          </a:blipFill>
        </p:spPr>
      </p:sp>
      <p:sp>
        <p:nvSpPr>
          <p:cNvPr name="TextBox 4" id="4"/>
          <p:cNvSpPr txBox="true"/>
          <p:nvPr/>
        </p:nvSpPr>
        <p:spPr>
          <a:xfrm rot="0">
            <a:off x="1028700" y="933450"/>
            <a:ext cx="9058624" cy="1863073"/>
          </a:xfrm>
          <a:prstGeom prst="rect">
            <a:avLst/>
          </a:prstGeom>
        </p:spPr>
        <p:txBody>
          <a:bodyPr anchor="t" rtlCol="false" tIns="0" lIns="0" bIns="0" rIns="0">
            <a:spAutoFit/>
          </a:bodyPr>
          <a:lstStyle/>
          <a:p>
            <a:pPr algn="l">
              <a:lnSpc>
                <a:spcPts val="7560"/>
              </a:lnSpc>
            </a:pPr>
            <a:r>
              <a:rPr lang="en-US" sz="5400" b="true">
                <a:solidFill>
                  <a:srgbClr val="1F4FD8"/>
                </a:solidFill>
                <a:latin typeface="Inter Bold"/>
                <a:ea typeface="Inter Bold"/>
                <a:cs typeface="Inter Bold"/>
                <a:sym typeface="Inter Bold"/>
              </a:rPr>
              <a:t>SIMULACIÓN DE 5000 CARTERAS DE INVERSIÓN</a:t>
            </a:r>
          </a:p>
        </p:txBody>
      </p:sp>
      <p:sp>
        <p:nvSpPr>
          <p:cNvPr name="TextBox 5" id="5"/>
          <p:cNvSpPr txBox="true"/>
          <p:nvPr/>
        </p:nvSpPr>
        <p:spPr>
          <a:xfrm rot="0">
            <a:off x="1028700" y="3316964"/>
            <a:ext cx="6531756" cy="514350"/>
          </a:xfrm>
          <a:prstGeom prst="rect">
            <a:avLst/>
          </a:prstGeom>
        </p:spPr>
        <p:txBody>
          <a:bodyPr anchor="t" rtlCol="false" tIns="0" lIns="0" bIns="0" rIns="0">
            <a:spAutoFit/>
          </a:bodyPr>
          <a:lstStyle/>
          <a:p>
            <a:pPr algn="l">
              <a:lnSpc>
                <a:spcPts val="4200"/>
              </a:lnSpc>
              <a:spcBef>
                <a:spcPct val="0"/>
              </a:spcBef>
            </a:pPr>
            <a:r>
              <a:rPr lang="en-US" b="true" sz="3000">
                <a:solidFill>
                  <a:srgbClr val="000000"/>
                </a:solidFill>
                <a:latin typeface="Inter Bold"/>
                <a:ea typeface="Inter Bold"/>
                <a:cs typeface="Inter Bold"/>
                <a:sym typeface="Inter Bold"/>
              </a:rPr>
              <a:t>Resultados d</a:t>
            </a:r>
            <a:r>
              <a:rPr lang="en-US" b="true" sz="3000">
                <a:solidFill>
                  <a:srgbClr val="000000"/>
                </a:solidFill>
                <a:latin typeface="Inter Bold"/>
                <a:ea typeface="Inter Bold"/>
                <a:cs typeface="Inter Bold"/>
                <a:sym typeface="Inter Bold"/>
              </a:rPr>
              <a:t>e la Simulación</a:t>
            </a:r>
          </a:p>
        </p:txBody>
      </p:sp>
      <p:sp>
        <p:nvSpPr>
          <p:cNvPr name="TextBox 6" id="6"/>
          <p:cNvSpPr txBox="true"/>
          <p:nvPr/>
        </p:nvSpPr>
        <p:spPr>
          <a:xfrm rot="0">
            <a:off x="1028700" y="4512645"/>
            <a:ext cx="5893901" cy="3561982"/>
          </a:xfrm>
          <a:prstGeom prst="rect">
            <a:avLst/>
          </a:prstGeom>
        </p:spPr>
        <p:txBody>
          <a:bodyPr anchor="t" rtlCol="false" tIns="0" lIns="0" bIns="0" rIns="0">
            <a:spAutoFit/>
          </a:bodyPr>
          <a:lstStyle/>
          <a:p>
            <a:pPr algn="l">
              <a:lnSpc>
                <a:spcPts val="2848"/>
              </a:lnSpc>
              <a:spcBef>
                <a:spcPct val="0"/>
              </a:spcBef>
            </a:pPr>
            <a:r>
              <a:rPr lang="en-US" sz="2034">
                <a:solidFill>
                  <a:srgbClr val="000000"/>
                </a:solidFill>
                <a:latin typeface="Inter"/>
                <a:ea typeface="Inter"/>
                <a:cs typeface="Inter"/>
                <a:sym typeface="Inter"/>
              </a:rPr>
              <a:t>Se generaron 5000 portafolios al</a:t>
            </a:r>
            <a:r>
              <a:rPr lang="en-US" sz="2034">
                <a:solidFill>
                  <a:srgbClr val="000000"/>
                </a:solidFill>
                <a:latin typeface="Inter"/>
                <a:ea typeface="Inter"/>
                <a:cs typeface="Inter"/>
                <a:sym typeface="Inter"/>
              </a:rPr>
              <a:t>eatorios combinando diferentes proporciones de inversión en AAPL, NVDA y AMZN.</a:t>
            </a:r>
          </a:p>
          <a:p>
            <a:pPr algn="l">
              <a:lnSpc>
                <a:spcPts val="2848"/>
              </a:lnSpc>
              <a:spcBef>
                <a:spcPct val="0"/>
              </a:spcBef>
            </a:pPr>
            <a:r>
              <a:rPr lang="en-US" sz="2034">
                <a:solidFill>
                  <a:srgbClr val="000000"/>
                </a:solidFill>
                <a:latin typeface="Inter"/>
                <a:ea typeface="Inter"/>
                <a:cs typeface="Inter"/>
                <a:sym typeface="Inter"/>
              </a:rPr>
              <a:t>Para cada portafolio se calculó:</a:t>
            </a:r>
          </a:p>
          <a:p>
            <a:pPr algn="l">
              <a:lnSpc>
                <a:spcPts val="2848"/>
              </a:lnSpc>
              <a:spcBef>
                <a:spcPct val="0"/>
              </a:spcBef>
            </a:pPr>
            <a:r>
              <a:rPr lang="en-US" sz="2034">
                <a:solidFill>
                  <a:srgbClr val="000000"/>
                </a:solidFill>
                <a:latin typeface="Inter"/>
                <a:ea typeface="Inter"/>
                <a:cs typeface="Inter"/>
                <a:sym typeface="Inter"/>
              </a:rPr>
              <a:t>• Retorno esperado</a:t>
            </a:r>
          </a:p>
          <a:p>
            <a:pPr algn="l">
              <a:lnSpc>
                <a:spcPts val="2848"/>
              </a:lnSpc>
              <a:spcBef>
                <a:spcPct val="0"/>
              </a:spcBef>
            </a:pPr>
            <a:r>
              <a:rPr lang="en-US" sz="2034">
                <a:solidFill>
                  <a:srgbClr val="000000"/>
                </a:solidFill>
                <a:latin typeface="Inter"/>
                <a:ea typeface="Inter"/>
                <a:cs typeface="Inter"/>
                <a:sym typeface="Inter"/>
              </a:rPr>
              <a:t> • Riesgo (volatilidad)</a:t>
            </a:r>
          </a:p>
          <a:p>
            <a:pPr algn="l">
              <a:lnSpc>
                <a:spcPts val="2848"/>
              </a:lnSpc>
              <a:spcBef>
                <a:spcPct val="0"/>
              </a:spcBef>
            </a:pPr>
            <a:r>
              <a:rPr lang="en-US" sz="2034">
                <a:solidFill>
                  <a:srgbClr val="000000"/>
                </a:solidFill>
                <a:latin typeface="Inter"/>
                <a:ea typeface="Inter"/>
                <a:cs typeface="Inter"/>
                <a:sym typeface="Inter"/>
              </a:rPr>
              <a:t> • Ratio de Sharpe</a:t>
            </a:r>
          </a:p>
          <a:p>
            <a:pPr algn="l">
              <a:lnSpc>
                <a:spcPts val="2848"/>
              </a:lnSpc>
              <a:spcBef>
                <a:spcPct val="0"/>
              </a:spcBef>
            </a:pPr>
            <a:r>
              <a:rPr lang="en-US" sz="2034">
                <a:solidFill>
                  <a:srgbClr val="000000"/>
                </a:solidFill>
                <a:latin typeface="Inter"/>
                <a:ea typeface="Inter"/>
                <a:cs typeface="Inter"/>
                <a:sym typeface="Inter"/>
              </a:rPr>
              <a:t>Esto permitió identificar las combinaciones más eficientes entre riesgo y retorno.</a:t>
            </a:r>
          </a:p>
          <a:p>
            <a:pPr algn="l">
              <a:lnSpc>
                <a:spcPts val="2848"/>
              </a:lnSpc>
              <a:spcBef>
                <a:spcPct val="0"/>
              </a:spcBef>
            </a:pPr>
          </a:p>
        </p:txBody>
      </p:sp>
      <p:sp>
        <p:nvSpPr>
          <p:cNvPr name="TextBox 7" id="7"/>
          <p:cNvSpPr txBox="true"/>
          <p:nvPr/>
        </p:nvSpPr>
        <p:spPr>
          <a:xfrm rot="0">
            <a:off x="13106764" y="4385218"/>
            <a:ext cx="3754874" cy="1727200"/>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Inter"/>
                <a:ea typeface="Inter"/>
                <a:cs typeface="Inter"/>
                <a:sym typeface="Inter"/>
              </a:rPr>
              <a:t>Interpretación del Gráfico</a:t>
            </a:r>
          </a:p>
          <a:p>
            <a:pPr algn="ctr">
              <a:lnSpc>
                <a:spcPts val="3499"/>
              </a:lnSpc>
              <a:spcBef>
                <a:spcPct val="0"/>
              </a:spcBef>
            </a:pPr>
            <a:r>
              <a:rPr lang="en-US" sz="2499">
                <a:solidFill>
                  <a:srgbClr val="000000"/>
                </a:solidFill>
                <a:latin typeface="Inter"/>
                <a:ea typeface="Inter"/>
                <a:cs typeface="Inter"/>
                <a:sym typeface="Inter"/>
              </a:rPr>
              <a:t>Eje X: Riesgo</a:t>
            </a:r>
          </a:p>
          <a:p>
            <a:pPr algn="ctr">
              <a:lnSpc>
                <a:spcPts val="3499"/>
              </a:lnSpc>
              <a:spcBef>
                <a:spcPct val="0"/>
              </a:spcBef>
            </a:pPr>
            <a:r>
              <a:rPr lang="en-US" sz="2499">
                <a:solidFill>
                  <a:srgbClr val="000000"/>
                </a:solidFill>
                <a:latin typeface="Inter"/>
                <a:ea typeface="Inter"/>
                <a:cs typeface="Inter"/>
                <a:sym typeface="Inter"/>
              </a:rPr>
              <a:t>Eje Y: Retorno esperado</a:t>
            </a:r>
          </a:p>
          <a:p>
            <a:pPr algn="ctr">
              <a:lnSpc>
                <a:spcPts val="3499"/>
              </a:lnSpc>
              <a:spcBef>
                <a:spcPct val="0"/>
              </a:spcBef>
            </a:pPr>
            <a:r>
              <a:rPr lang="en-US" sz="2499">
                <a:solidFill>
                  <a:srgbClr val="000000"/>
                </a:solidFill>
                <a:latin typeface="Inter"/>
                <a:ea typeface="Inter"/>
                <a:cs typeface="Inter"/>
                <a:sym typeface="Inter"/>
              </a:rPr>
              <a:t>Color: Ratio de Sharpe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95282" y="537536"/>
            <a:ext cx="5629378" cy="887078"/>
          </a:xfrm>
          <a:prstGeom prst="rect">
            <a:avLst/>
          </a:prstGeom>
        </p:spPr>
        <p:txBody>
          <a:bodyPr anchor="t" rtlCol="false" tIns="0" lIns="0" bIns="0" rIns="0">
            <a:spAutoFit/>
          </a:bodyPr>
          <a:lstStyle/>
          <a:p>
            <a:pPr algn="l">
              <a:lnSpc>
                <a:spcPts val="7280"/>
              </a:lnSpc>
            </a:pPr>
            <a:r>
              <a:rPr lang="en-US" sz="5200" b="true">
                <a:solidFill>
                  <a:srgbClr val="1F4FD8"/>
                </a:solidFill>
                <a:latin typeface="Inter Bold"/>
                <a:ea typeface="Inter Bold"/>
                <a:cs typeface="Inter Bold"/>
                <a:sym typeface="Inter Bold"/>
              </a:rPr>
              <a:t>CONCLUSIONES</a:t>
            </a:r>
          </a:p>
        </p:txBody>
      </p:sp>
      <p:sp>
        <p:nvSpPr>
          <p:cNvPr name="TextBox 3" id="3"/>
          <p:cNvSpPr txBox="true"/>
          <p:nvPr/>
        </p:nvSpPr>
        <p:spPr>
          <a:xfrm rot="0">
            <a:off x="695282" y="1660915"/>
            <a:ext cx="6456430" cy="645427"/>
          </a:xfrm>
          <a:prstGeom prst="rect">
            <a:avLst/>
          </a:prstGeom>
        </p:spPr>
        <p:txBody>
          <a:bodyPr anchor="t" rtlCol="false" tIns="0" lIns="0" bIns="0" rIns="0">
            <a:spAutoFit/>
          </a:bodyPr>
          <a:lstStyle/>
          <a:p>
            <a:pPr algn="l">
              <a:lnSpc>
                <a:spcPts val="5375"/>
              </a:lnSpc>
            </a:pPr>
            <a:r>
              <a:rPr lang="en-US" sz="3839" b="true">
                <a:solidFill>
                  <a:srgbClr val="3B82F6"/>
                </a:solidFill>
                <a:latin typeface="Inter Bold"/>
                <a:ea typeface="Inter Bold"/>
                <a:cs typeface="Inter Bold"/>
                <a:sym typeface="Inter Bold"/>
              </a:rPr>
              <a:t>PRINCIPALES HALLAZGOS</a:t>
            </a:r>
          </a:p>
        </p:txBody>
      </p:sp>
      <p:sp>
        <p:nvSpPr>
          <p:cNvPr name="TextBox 4" id="4"/>
          <p:cNvSpPr txBox="true"/>
          <p:nvPr/>
        </p:nvSpPr>
        <p:spPr>
          <a:xfrm rot="0">
            <a:off x="10342353" y="1386514"/>
            <a:ext cx="6531756" cy="8299450"/>
          </a:xfrm>
          <a:prstGeom prst="rect">
            <a:avLst/>
          </a:prstGeom>
        </p:spPr>
        <p:txBody>
          <a:bodyPr anchor="t" rtlCol="false" tIns="0" lIns="0" bIns="0" rIns="0">
            <a:spAutoFit/>
          </a:bodyPr>
          <a:lstStyle/>
          <a:p>
            <a:pPr algn="l">
              <a:lnSpc>
                <a:spcPts val="3499"/>
              </a:lnSpc>
            </a:pPr>
            <a:r>
              <a:rPr lang="en-US" sz="2499">
                <a:solidFill>
                  <a:srgbClr val="000000"/>
                </a:solidFill>
                <a:latin typeface="Inter"/>
                <a:ea typeface="Inter"/>
                <a:cs typeface="Inter"/>
                <a:sym typeface="Inter"/>
              </a:rPr>
              <a:t>✓ Se analizaron datos históricos de AAPL, NVDA y AMZN obtenidos desde Yahoo Finance.</a:t>
            </a:r>
          </a:p>
          <a:p>
            <a:pPr algn="l">
              <a:lnSpc>
                <a:spcPts val="3499"/>
              </a:lnSpc>
            </a:pPr>
            <a:r>
              <a:rPr lang="en-US" sz="2499">
                <a:solidFill>
                  <a:srgbClr val="000000"/>
                </a:solidFill>
                <a:latin typeface="Inter"/>
                <a:ea typeface="Inter"/>
                <a:cs typeface="Inter"/>
                <a:sym typeface="Inter"/>
              </a:rPr>
              <a:t>✓ Se verificó la calidad de los datos mediante la detección de valores faltantes y registros duplicados.</a:t>
            </a:r>
          </a:p>
          <a:p>
            <a:pPr algn="l">
              <a:lnSpc>
                <a:spcPts val="3499"/>
              </a:lnSpc>
            </a:pPr>
            <a:r>
              <a:rPr lang="en-US" sz="2499">
                <a:solidFill>
                  <a:srgbClr val="000000"/>
                </a:solidFill>
                <a:latin typeface="Inter"/>
                <a:ea typeface="Inter"/>
                <a:cs typeface="Inter"/>
                <a:sym typeface="Inter"/>
              </a:rPr>
              <a:t>✓ Se evaluó el comportamiento de los activos utilizando medidas de tendencia central, volatilidad y correlación.</a:t>
            </a:r>
          </a:p>
          <a:p>
            <a:pPr algn="l">
              <a:lnSpc>
                <a:spcPts val="3499"/>
              </a:lnSpc>
            </a:pPr>
            <a:r>
              <a:rPr lang="en-US" sz="2499">
                <a:solidFill>
                  <a:srgbClr val="000000"/>
                </a:solidFill>
                <a:latin typeface="Inter"/>
                <a:ea typeface="Inter"/>
                <a:cs typeface="Inter"/>
                <a:sym typeface="Inter"/>
              </a:rPr>
              <a:t>✓ Se aplicó el modelo de Markowitz para construir carteras eficientes considerando riesgo y retorno.</a:t>
            </a:r>
          </a:p>
          <a:p>
            <a:pPr algn="l">
              <a:lnSpc>
                <a:spcPts val="3499"/>
              </a:lnSpc>
            </a:pPr>
            <a:r>
              <a:rPr lang="en-US" sz="2499">
                <a:solidFill>
                  <a:srgbClr val="000000"/>
                </a:solidFill>
                <a:latin typeface="Inter"/>
                <a:ea typeface="Inter"/>
                <a:cs typeface="Inter"/>
                <a:sym typeface="Inter"/>
              </a:rPr>
              <a:t>✓ Se simularon 5000 combinaciones de inversión para identificar la mejor alternativa.</a:t>
            </a:r>
          </a:p>
          <a:p>
            <a:pPr algn="l">
              <a:lnSpc>
                <a:spcPts val="3499"/>
              </a:lnSpc>
            </a:pPr>
            <a:r>
              <a:rPr lang="en-US" sz="2499">
                <a:solidFill>
                  <a:srgbClr val="000000"/>
                </a:solidFill>
                <a:latin typeface="Inter"/>
                <a:ea typeface="Inter"/>
                <a:cs typeface="Inter"/>
                <a:sym typeface="Inter"/>
              </a:rPr>
              <a:t>✓ El portafolio óptimo presentó la mejor relación riesgo-retorno según el Ratio de Sharpe.</a:t>
            </a:r>
          </a:p>
          <a:p>
            <a:pPr algn="l">
              <a:lnSpc>
                <a:spcPts val="3499"/>
              </a:lnSpc>
              <a:spcBef>
                <a:spcPct val="0"/>
              </a:spcBef>
            </a:pPr>
          </a:p>
        </p:txBody>
      </p:sp>
      <p:sp>
        <p:nvSpPr>
          <p:cNvPr name="TextBox 5" id="5"/>
          <p:cNvSpPr txBox="true"/>
          <p:nvPr/>
        </p:nvSpPr>
        <p:spPr>
          <a:xfrm rot="0">
            <a:off x="695282" y="6071965"/>
            <a:ext cx="6689690" cy="3917950"/>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Inter"/>
                <a:ea typeface="Inter"/>
                <a:cs typeface="Inter"/>
                <a:sym typeface="Inter"/>
              </a:rPr>
              <a:t>En conclusión, </a:t>
            </a:r>
            <a:r>
              <a:rPr lang="en-US" sz="2499">
                <a:solidFill>
                  <a:srgbClr val="000000"/>
                </a:solidFill>
                <a:latin typeface="Inter"/>
                <a:ea typeface="Inter"/>
                <a:cs typeface="Inter"/>
                <a:sym typeface="Inter"/>
              </a:rPr>
              <a:t>el análisis permitió demostrar cómo las técnicas de ciencia de datos y optimización financiera pueden utilizarse para construir carteras de inversión más eficientes. A través del modelo de Markowitz y el Ratio de Sharpe fue posible identificar una combinación de activos que maximiza el retorno esperado para un nivel de riesgo determinado.</a:t>
            </a:r>
          </a:p>
        </p:txBody>
      </p:sp>
      <p:sp>
        <p:nvSpPr>
          <p:cNvPr name="TextBox 6" id="6"/>
          <p:cNvSpPr txBox="true"/>
          <p:nvPr/>
        </p:nvSpPr>
        <p:spPr>
          <a:xfrm rot="0">
            <a:off x="829596" y="3068415"/>
            <a:ext cx="4291680" cy="3041650"/>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Inter"/>
                <a:ea typeface="Inter"/>
                <a:cs typeface="Inter"/>
                <a:sym typeface="Inter"/>
              </a:rPr>
              <a:t>Resultado</a:t>
            </a:r>
            <a:r>
              <a:rPr lang="en-US" sz="2499">
                <a:solidFill>
                  <a:srgbClr val="000000"/>
                </a:solidFill>
                <a:latin typeface="Inter"/>
                <a:ea typeface="Inter"/>
                <a:cs typeface="Inter"/>
                <a:sym typeface="Inter"/>
              </a:rPr>
              <a:t> Final</a:t>
            </a:r>
          </a:p>
          <a:p>
            <a:pPr algn="l">
              <a:lnSpc>
                <a:spcPts val="3499"/>
              </a:lnSpc>
              <a:spcBef>
                <a:spcPct val="0"/>
              </a:spcBef>
            </a:pPr>
            <a:r>
              <a:rPr lang="en-US" sz="2499">
                <a:solidFill>
                  <a:srgbClr val="000000"/>
                </a:solidFill>
                <a:latin typeface="Inter"/>
                <a:ea typeface="Inter"/>
                <a:cs typeface="Inter"/>
                <a:sym typeface="Inter"/>
              </a:rPr>
              <a:t>Distribución recomendada:</a:t>
            </a:r>
          </a:p>
          <a:p>
            <a:pPr algn="l" marL="539749" indent="-269875" lvl="1">
              <a:lnSpc>
                <a:spcPts val="3499"/>
              </a:lnSpc>
              <a:spcBef>
                <a:spcPct val="0"/>
              </a:spcBef>
              <a:buFont typeface="Arial"/>
              <a:buChar char="•"/>
            </a:pPr>
            <a:r>
              <a:rPr lang="en-US" sz="2499">
                <a:solidFill>
                  <a:srgbClr val="000000"/>
                </a:solidFill>
                <a:latin typeface="Inter"/>
                <a:ea typeface="Inter"/>
                <a:cs typeface="Inter"/>
                <a:sym typeface="Inter"/>
              </a:rPr>
              <a:t>AAPL → 77.93%</a:t>
            </a:r>
          </a:p>
          <a:p>
            <a:pPr algn="l" marL="539749" indent="-269875" lvl="1">
              <a:lnSpc>
                <a:spcPts val="3499"/>
              </a:lnSpc>
              <a:spcBef>
                <a:spcPct val="0"/>
              </a:spcBef>
              <a:buFont typeface="Arial"/>
              <a:buChar char="•"/>
            </a:pPr>
            <a:r>
              <a:rPr lang="en-US" sz="2499">
                <a:solidFill>
                  <a:srgbClr val="000000"/>
                </a:solidFill>
                <a:latin typeface="Inter"/>
                <a:ea typeface="Inter"/>
                <a:cs typeface="Inter"/>
                <a:sym typeface="Inter"/>
              </a:rPr>
              <a:t>NVDA → 21.54%</a:t>
            </a:r>
          </a:p>
          <a:p>
            <a:pPr algn="l" marL="539749" indent="-269875" lvl="1">
              <a:lnSpc>
                <a:spcPts val="3499"/>
              </a:lnSpc>
              <a:spcBef>
                <a:spcPct val="0"/>
              </a:spcBef>
              <a:buFont typeface="Arial"/>
              <a:buChar char="•"/>
            </a:pPr>
            <a:r>
              <a:rPr lang="en-US" sz="2499">
                <a:solidFill>
                  <a:srgbClr val="000000"/>
                </a:solidFill>
                <a:latin typeface="Inter"/>
                <a:ea typeface="Inter"/>
                <a:cs typeface="Inter"/>
                <a:sym typeface="Inter"/>
              </a:rPr>
              <a:t>AMZN → 0.54%</a:t>
            </a:r>
          </a:p>
          <a:p>
            <a:pPr algn="l">
              <a:lnSpc>
                <a:spcPts val="3499"/>
              </a:lnSpc>
              <a:spcBef>
                <a:spcPct val="0"/>
              </a:spcBef>
            </a:pPr>
            <a:r>
              <a:rPr lang="en-US" sz="2499">
                <a:solidFill>
                  <a:srgbClr val="000000"/>
                </a:solidFill>
                <a:latin typeface="Inter"/>
                <a:ea typeface="Inter"/>
                <a:cs typeface="Inter"/>
                <a:sym typeface="Inter"/>
              </a:rPr>
              <a:t>Sharpe Máximo: 0.1289</a:t>
            </a:r>
          </a:p>
          <a:p>
            <a:pPr algn="l">
              <a:lnSpc>
                <a:spcPts val="3499"/>
              </a:lnSpc>
              <a:spcBef>
                <a:spcPct val="0"/>
              </a:spcBef>
            </a:pPr>
          </a:p>
        </p:txBody>
      </p:sp>
      <p:sp>
        <p:nvSpPr>
          <p:cNvPr name="Freeform 7" id="7"/>
          <p:cNvSpPr/>
          <p:nvPr/>
        </p:nvSpPr>
        <p:spPr>
          <a:xfrm flipH="false" flipV="false" rot="0">
            <a:off x="7718390" y="1506169"/>
            <a:ext cx="1654105" cy="1600346"/>
          </a:xfrm>
          <a:custGeom>
            <a:avLst/>
            <a:gdLst/>
            <a:ahLst/>
            <a:cxnLst/>
            <a:rect r="r" b="b" t="t" l="l"/>
            <a:pathLst>
              <a:path h="1600346" w="1654105">
                <a:moveTo>
                  <a:pt x="0" y="0"/>
                </a:moveTo>
                <a:lnTo>
                  <a:pt x="1654104" y="0"/>
                </a:lnTo>
                <a:lnTo>
                  <a:pt x="1654104" y="1600346"/>
                </a:lnTo>
                <a:lnTo>
                  <a:pt x="0" y="16003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DAHMF4b55wA</dc:identifier>
  <dcterms:modified xsi:type="dcterms:W3CDTF">2011-08-01T06:04:30Z</dcterms:modified>
  <cp:revision>1</cp:revision>
  <dc:title>Blue Modern Data Analysis Presentation</dc:title>
</cp:coreProperties>
</file>